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Drugs" charset="1" panose="02000503060000020003"/>
      <p:regular r:id="rId16"/>
    </p:embeddedFont>
    <p:embeddedFont>
      <p:font typeface="TT Drugs Bold" charset="1" panose="02000803060000020003"/>
      <p:regular r:id="rId17"/>
    </p:embeddedFont>
    <p:embeddedFont>
      <p:font typeface="TT Drugs Italics" charset="1" panose="020005030000000900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2370" y="942173"/>
            <a:ext cx="10187166" cy="5163762"/>
            <a:chOff x="0" y="0"/>
            <a:chExt cx="13582888" cy="688501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582888" cy="518100"/>
              <a:chOff x="0" y="0"/>
              <a:chExt cx="2683040" cy="10234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83040" cy="102341"/>
              </a:xfrm>
              <a:custGeom>
                <a:avLst/>
                <a:gdLst/>
                <a:ahLst/>
                <a:cxnLst/>
                <a:rect r="r" b="b" t="t" l="l"/>
                <a:pathLst>
                  <a:path h="102341" w="2683040">
                    <a:moveTo>
                      <a:pt x="0" y="0"/>
                    </a:moveTo>
                    <a:lnTo>
                      <a:pt x="2683040" y="0"/>
                    </a:lnTo>
                    <a:lnTo>
                      <a:pt x="2683040" y="102341"/>
                    </a:lnTo>
                    <a:lnTo>
                      <a:pt x="0" y="102341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2683040" cy="1213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440714" cy="6885016"/>
              <a:chOff x="0" y="0"/>
              <a:chExt cx="87055" cy="136000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7055" cy="1360003"/>
              </a:xfrm>
              <a:custGeom>
                <a:avLst/>
                <a:gdLst/>
                <a:ahLst/>
                <a:cxnLst/>
                <a:rect r="r" b="b" t="t" l="l"/>
                <a:pathLst>
                  <a:path h="1360003" w="87055">
                    <a:moveTo>
                      <a:pt x="0" y="0"/>
                    </a:moveTo>
                    <a:lnTo>
                      <a:pt x="87055" y="0"/>
                    </a:lnTo>
                    <a:lnTo>
                      <a:pt x="87055" y="1360003"/>
                    </a:lnTo>
                    <a:lnTo>
                      <a:pt x="0" y="1360003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87055" cy="1379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-10800000">
            <a:off x="7072134" y="4265953"/>
            <a:ext cx="10187166" cy="5163762"/>
            <a:chOff x="0" y="0"/>
            <a:chExt cx="13582888" cy="688501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582888" cy="518100"/>
              <a:chOff x="0" y="0"/>
              <a:chExt cx="2683040" cy="10234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683040" cy="102341"/>
              </a:xfrm>
              <a:custGeom>
                <a:avLst/>
                <a:gdLst/>
                <a:ahLst/>
                <a:cxnLst/>
                <a:rect r="r" b="b" t="t" l="l"/>
                <a:pathLst>
                  <a:path h="102341" w="2683040">
                    <a:moveTo>
                      <a:pt x="0" y="0"/>
                    </a:moveTo>
                    <a:lnTo>
                      <a:pt x="2683040" y="0"/>
                    </a:lnTo>
                    <a:lnTo>
                      <a:pt x="2683040" y="102341"/>
                    </a:lnTo>
                    <a:lnTo>
                      <a:pt x="0" y="102341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2683040" cy="1213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440714" cy="6885016"/>
              <a:chOff x="0" y="0"/>
              <a:chExt cx="87055" cy="136000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055" cy="1360003"/>
              </a:xfrm>
              <a:custGeom>
                <a:avLst/>
                <a:gdLst/>
                <a:ahLst/>
                <a:cxnLst/>
                <a:rect r="r" b="b" t="t" l="l"/>
                <a:pathLst>
                  <a:path h="1360003" w="87055">
                    <a:moveTo>
                      <a:pt x="0" y="0"/>
                    </a:moveTo>
                    <a:lnTo>
                      <a:pt x="87055" y="0"/>
                    </a:lnTo>
                    <a:lnTo>
                      <a:pt x="87055" y="1360003"/>
                    </a:lnTo>
                    <a:lnTo>
                      <a:pt x="0" y="1360003"/>
                    </a:lnTo>
                    <a:close/>
                  </a:path>
                </a:pathLst>
              </a:custGeom>
              <a:solidFill>
                <a:srgbClr val="BFE5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87055" cy="13790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2599967" y="2111711"/>
            <a:ext cx="13526512" cy="6286556"/>
            <a:chOff x="0" y="0"/>
            <a:chExt cx="4511732" cy="20968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11732" cy="2096864"/>
            </a:xfrm>
            <a:custGeom>
              <a:avLst/>
              <a:gdLst/>
              <a:ahLst/>
              <a:cxnLst/>
              <a:rect r="r" b="b" t="t" l="l"/>
              <a:pathLst>
                <a:path h="2096864" w="4511732">
                  <a:moveTo>
                    <a:pt x="0" y="0"/>
                  </a:moveTo>
                  <a:lnTo>
                    <a:pt x="4511732" y="0"/>
                  </a:lnTo>
                  <a:lnTo>
                    <a:pt x="4511732" y="2096864"/>
                  </a:lnTo>
                  <a:lnTo>
                    <a:pt x="0" y="2096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511732" cy="2115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915640" y="-659492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-2343983" y="7089454"/>
            <a:ext cx="7092705" cy="709270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028966" y="-3546166"/>
            <a:ext cx="5773349" cy="577334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125558" y="7702920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893597" y="2422991"/>
            <a:ext cx="13232883" cy="5441018"/>
            <a:chOff x="0" y="0"/>
            <a:chExt cx="17643844" cy="7254690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60409" y="853890"/>
              <a:ext cx="17583434" cy="6400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629"/>
                </a:lnSpc>
              </a:pPr>
              <a:r>
                <a:rPr lang="en-US" sz="10524">
                  <a:solidFill>
                    <a:srgbClr val="010101"/>
                  </a:solidFill>
                  <a:latin typeface="TT Drugs"/>
                  <a:ea typeface="TT Drugs"/>
                  <a:cs typeface="TT Drugs"/>
                  <a:sym typeface="TT Drugs"/>
                </a:rPr>
                <a:t>SISTEMA DE VIDEOVIGILANCIA DURAPLAY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17452011" cy="771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3"/>
                </a:lnSpc>
              </a:pPr>
              <a:r>
                <a:rPr lang="en-US" sz="3810">
                  <a:solidFill>
                    <a:srgbClr val="010101"/>
                  </a:solidFill>
                  <a:latin typeface="TT Drugs"/>
                  <a:ea typeface="TT Drugs"/>
                  <a:cs typeface="TT Drugs"/>
                  <a:sym typeface="TT Drugs"/>
                </a:rPr>
                <a:t>Auditoría Interna de TI: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-2014895" y="8038926"/>
            <a:ext cx="7553545" cy="185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Iker Arteaga</a:t>
            </a:r>
          </a:p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Jesus Gutierrez</a:t>
            </a:r>
          </a:p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Hiram Hernandez</a:t>
            </a:r>
          </a:p>
          <a:p>
            <a:pPr algn="ctr">
              <a:lnSpc>
                <a:spcPts val="3732"/>
              </a:lnSpc>
            </a:pPr>
            <a:r>
              <a:rPr lang="en-US" sz="2666" spc="133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Juan Torres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30519" y="337474"/>
            <a:ext cx="1929023" cy="9570246"/>
            <a:chOff x="0" y="0"/>
            <a:chExt cx="508056" cy="2520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056" cy="2520559"/>
            </a:xfrm>
            <a:custGeom>
              <a:avLst/>
              <a:gdLst/>
              <a:ahLst/>
              <a:cxnLst/>
              <a:rect r="r" b="b" t="t" l="l"/>
              <a:pathLst>
                <a:path h="2520559" w="508056">
                  <a:moveTo>
                    <a:pt x="0" y="0"/>
                  </a:moveTo>
                  <a:lnTo>
                    <a:pt x="508056" y="0"/>
                  </a:lnTo>
                  <a:lnTo>
                    <a:pt x="508056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08056" cy="2539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99033" y="2761160"/>
            <a:ext cx="1488692" cy="148869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631077" y="2983818"/>
            <a:ext cx="956147" cy="970260"/>
          </a:xfrm>
          <a:custGeom>
            <a:avLst/>
            <a:gdLst/>
            <a:ahLst/>
            <a:cxnLst/>
            <a:rect r="r" b="b" t="t" l="l"/>
            <a:pathLst>
              <a:path h="970260" w="956147">
                <a:moveTo>
                  <a:pt x="0" y="0"/>
                </a:moveTo>
                <a:lnTo>
                  <a:pt x="956147" y="0"/>
                </a:lnTo>
                <a:lnTo>
                  <a:pt x="956147" y="970260"/>
                </a:lnTo>
                <a:lnTo>
                  <a:pt x="0" y="97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322813" y="4742583"/>
            <a:ext cx="1488692" cy="148869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580344" y="4964211"/>
            <a:ext cx="1006880" cy="1023630"/>
          </a:xfrm>
          <a:custGeom>
            <a:avLst/>
            <a:gdLst/>
            <a:ahLst/>
            <a:cxnLst/>
            <a:rect r="r" b="b" t="t" l="l"/>
            <a:pathLst>
              <a:path h="1023630" w="1006880">
                <a:moveTo>
                  <a:pt x="0" y="0"/>
                </a:moveTo>
                <a:lnTo>
                  <a:pt x="1006880" y="0"/>
                </a:lnTo>
                <a:lnTo>
                  <a:pt x="1006880" y="1023630"/>
                </a:lnTo>
                <a:lnTo>
                  <a:pt x="0" y="102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299033" y="6724770"/>
            <a:ext cx="1488692" cy="148869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6662075" y="6966270"/>
            <a:ext cx="894152" cy="1005692"/>
          </a:xfrm>
          <a:custGeom>
            <a:avLst/>
            <a:gdLst/>
            <a:ahLst/>
            <a:cxnLst/>
            <a:rect r="r" b="b" t="t" l="l"/>
            <a:pathLst>
              <a:path h="1005692" w="894152">
                <a:moveTo>
                  <a:pt x="0" y="0"/>
                </a:moveTo>
                <a:lnTo>
                  <a:pt x="894151" y="0"/>
                </a:lnTo>
                <a:lnTo>
                  <a:pt x="894151" y="1005692"/>
                </a:lnTo>
                <a:lnTo>
                  <a:pt x="0" y="1005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24442" y="358377"/>
            <a:ext cx="1929023" cy="9570246"/>
            <a:chOff x="0" y="0"/>
            <a:chExt cx="508056" cy="2520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56" cy="2520559"/>
            </a:xfrm>
            <a:custGeom>
              <a:avLst/>
              <a:gdLst/>
              <a:ahLst/>
              <a:cxnLst/>
              <a:rect r="r" b="b" t="t" l="l"/>
              <a:pathLst>
                <a:path h="2520559" w="508056">
                  <a:moveTo>
                    <a:pt x="0" y="0"/>
                  </a:moveTo>
                  <a:lnTo>
                    <a:pt x="508056" y="0"/>
                  </a:lnTo>
                  <a:lnTo>
                    <a:pt x="508056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508056" cy="2539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2717" y="2749875"/>
            <a:ext cx="1488692" cy="148869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164761" y="2972533"/>
            <a:ext cx="956147" cy="970260"/>
          </a:xfrm>
          <a:custGeom>
            <a:avLst/>
            <a:gdLst/>
            <a:ahLst/>
            <a:cxnLst/>
            <a:rect r="r" b="b" t="t" l="l"/>
            <a:pathLst>
              <a:path h="970260" w="956147">
                <a:moveTo>
                  <a:pt x="0" y="0"/>
                </a:moveTo>
                <a:lnTo>
                  <a:pt x="956147" y="0"/>
                </a:lnTo>
                <a:lnTo>
                  <a:pt x="956147" y="970260"/>
                </a:lnTo>
                <a:lnTo>
                  <a:pt x="0" y="970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56497" y="4731297"/>
            <a:ext cx="1488692" cy="148869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14028" y="4952925"/>
            <a:ext cx="1006880" cy="1023630"/>
          </a:xfrm>
          <a:custGeom>
            <a:avLst/>
            <a:gdLst/>
            <a:ahLst/>
            <a:cxnLst/>
            <a:rect r="r" b="b" t="t" l="l"/>
            <a:pathLst>
              <a:path h="1023630" w="1006880">
                <a:moveTo>
                  <a:pt x="0" y="0"/>
                </a:moveTo>
                <a:lnTo>
                  <a:pt x="1006880" y="0"/>
                </a:lnTo>
                <a:lnTo>
                  <a:pt x="1006880" y="1023631"/>
                </a:lnTo>
                <a:lnTo>
                  <a:pt x="0" y="1023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32717" y="6713485"/>
            <a:ext cx="1488692" cy="1488692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195759" y="6954985"/>
            <a:ext cx="894152" cy="1005692"/>
          </a:xfrm>
          <a:custGeom>
            <a:avLst/>
            <a:gdLst/>
            <a:ahLst/>
            <a:cxnLst/>
            <a:rect r="r" b="b" t="t" l="l"/>
            <a:pathLst>
              <a:path h="1005692" w="894152">
                <a:moveTo>
                  <a:pt x="0" y="0"/>
                </a:moveTo>
                <a:lnTo>
                  <a:pt x="894151" y="0"/>
                </a:lnTo>
                <a:lnTo>
                  <a:pt x="894151" y="1005692"/>
                </a:lnTo>
                <a:lnTo>
                  <a:pt x="0" y="10056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257738" y="5914562"/>
            <a:ext cx="4068508" cy="4114800"/>
          </a:xfrm>
          <a:custGeom>
            <a:avLst/>
            <a:gdLst/>
            <a:ahLst/>
            <a:cxnLst/>
            <a:rect r="r" b="b" t="t" l="l"/>
            <a:pathLst>
              <a:path h="4114800" w="4068508">
                <a:moveTo>
                  <a:pt x="0" y="0"/>
                </a:moveTo>
                <a:lnTo>
                  <a:pt x="4068508" y="0"/>
                </a:lnTo>
                <a:lnTo>
                  <a:pt x="40685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739066" y="223174"/>
            <a:ext cx="10809868" cy="205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226"/>
              </a:lnSpc>
              <a:spcBef>
                <a:spcPct val="0"/>
              </a:spcBef>
            </a:pPr>
            <a:r>
              <a:rPr lang="en-US" sz="5961" spc="584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Obj</a:t>
            </a:r>
            <a:r>
              <a:rPr lang="en-US" sz="5961" spc="584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etivos y Alcance de la Auditoría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77299" y="3377810"/>
            <a:ext cx="5650234" cy="2406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378580" indent="-189290" lvl="1">
              <a:lnSpc>
                <a:spcPts val="2419"/>
              </a:lnSpc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Garantizar cumplimiento de estándares de seguridad y operatividad.</a:t>
            </a:r>
          </a:p>
          <a:p>
            <a:pPr algn="r" marL="378580" indent="-189290" lvl="1">
              <a:lnSpc>
                <a:spcPts val="2419"/>
              </a:lnSpc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Detectar fallas técnicas o físicas.</a:t>
            </a:r>
          </a:p>
          <a:p>
            <a:pPr algn="r" marL="378580" indent="-189290" lvl="1">
              <a:lnSpc>
                <a:spcPts val="2419"/>
              </a:lnSpc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Proponer mejoras para optimizar cobertura y eficiencia.</a:t>
            </a:r>
          </a:p>
          <a:p>
            <a:pPr algn="r" marL="378580" indent="-189290" lvl="1">
              <a:lnSpc>
                <a:spcPts val="2419"/>
              </a:lnSpc>
              <a:spcBef>
                <a:spcPct val="0"/>
              </a:spcBef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Asegurar condiciones adecuadas de DVRs y SITE's.</a:t>
            </a:r>
          </a:p>
          <a:p>
            <a:pPr algn="r" marL="0" indent="0" lvl="0">
              <a:lnSpc>
                <a:spcPts val="241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0749556" y="2955035"/>
            <a:ext cx="4977977" cy="35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29"/>
              </a:lnSpc>
              <a:spcBef>
                <a:spcPct val="0"/>
              </a:spcBef>
            </a:pPr>
            <a:r>
              <a:rPr lang="en-US" b="true" sz="2050" spc="20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OBJETIVOS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95290" y="3613334"/>
            <a:ext cx="5650234" cy="210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378580" indent="-189290" lvl="1">
              <a:lnSpc>
                <a:spcPts val="2419"/>
              </a:lnSpc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Revisión de 15 equipos DVR distribuidos en la instalación.</a:t>
            </a:r>
          </a:p>
          <a:p>
            <a:pPr algn="r" marL="378580" indent="-189290" lvl="1">
              <a:lnSpc>
                <a:spcPts val="2419"/>
              </a:lnSpc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Análisis de condiciones físicas y técnicas de los SITE's.</a:t>
            </a:r>
          </a:p>
          <a:p>
            <a:pPr algn="r" marL="378580" indent="-189290" lvl="1">
              <a:lnSpc>
                <a:spcPts val="2419"/>
              </a:lnSpc>
              <a:spcBef>
                <a:spcPct val="0"/>
              </a:spcBef>
              <a:buFont typeface="Arial"/>
              <a:buChar char="•"/>
            </a:pPr>
            <a:r>
              <a:rPr lang="en-US" sz="1753" spc="171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Verificación de ubicación, funcionalidad y cobertura de cámaras.</a:t>
            </a:r>
          </a:p>
          <a:p>
            <a:pPr algn="r" marL="0" indent="0" lvl="0">
              <a:lnSpc>
                <a:spcPts val="241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3031419" y="2985710"/>
            <a:ext cx="4977977" cy="35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29"/>
              </a:lnSpc>
              <a:spcBef>
                <a:spcPct val="0"/>
              </a:spcBef>
            </a:pPr>
            <a:r>
              <a:rPr lang="en-US" b="true" sz="2050" spc="200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ALCANCE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80162" y="718801"/>
            <a:ext cx="12730488" cy="8323202"/>
            <a:chOff x="0" y="0"/>
            <a:chExt cx="932394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2394" cy="609600"/>
            </a:xfrm>
            <a:custGeom>
              <a:avLst/>
              <a:gdLst/>
              <a:ahLst/>
              <a:cxnLst/>
              <a:rect r="r" b="b" t="t" l="l"/>
              <a:pathLst>
                <a:path h="609600" w="932394">
                  <a:moveTo>
                    <a:pt x="203200" y="0"/>
                  </a:moveTo>
                  <a:lnTo>
                    <a:pt x="932394" y="0"/>
                  </a:lnTo>
                  <a:lnTo>
                    <a:pt x="72919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ACC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19050"/>
              <a:ext cx="729194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67653" y="7594521"/>
            <a:ext cx="8900620" cy="1836964"/>
            <a:chOff x="0" y="0"/>
            <a:chExt cx="2643296" cy="5455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43296" cy="545539"/>
            </a:xfrm>
            <a:custGeom>
              <a:avLst/>
              <a:gdLst/>
              <a:ahLst/>
              <a:cxnLst/>
              <a:rect r="r" b="b" t="t" l="l"/>
              <a:pathLst>
                <a:path h="545539" w="2643296">
                  <a:moveTo>
                    <a:pt x="203200" y="0"/>
                  </a:moveTo>
                  <a:lnTo>
                    <a:pt x="2643296" y="0"/>
                  </a:lnTo>
                  <a:lnTo>
                    <a:pt x="2440096" y="545539"/>
                  </a:lnTo>
                  <a:lnTo>
                    <a:pt x="0" y="54553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9BD9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19050"/>
              <a:ext cx="2440096" cy="5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01853" y="3342422"/>
            <a:ext cx="7294349" cy="180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5"/>
              </a:lnSpc>
              <a:spcBef>
                <a:spcPct val="0"/>
              </a:spcBef>
            </a:pPr>
            <a:r>
              <a:rPr lang="en-US" sz="2127" spc="20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La auditoría se basó en la norma internacional ISO 27001 para evaluar el Sistema de Gestión de Seguridad de la Información (SGSI) del sistema de videovigilancia.</a:t>
            </a:r>
          </a:p>
          <a:p>
            <a:pPr algn="l" marL="0" indent="0" lvl="0">
              <a:lnSpc>
                <a:spcPts val="2935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8906504" y="-1468331"/>
            <a:ext cx="11097603" cy="8323202"/>
            <a:chOff x="0" y="0"/>
            <a:chExt cx="8128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BACC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19050"/>
              <a:ext cx="609600" cy="628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751501" y="3643259"/>
            <a:ext cx="1503002" cy="1836964"/>
            <a:chOff x="0" y="0"/>
            <a:chExt cx="446360" cy="5455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6360" cy="545539"/>
            </a:xfrm>
            <a:custGeom>
              <a:avLst/>
              <a:gdLst/>
              <a:ahLst/>
              <a:cxnLst/>
              <a:rect r="r" b="b" t="t" l="l"/>
              <a:pathLst>
                <a:path h="545539" w="446360">
                  <a:moveTo>
                    <a:pt x="203200" y="0"/>
                  </a:moveTo>
                  <a:lnTo>
                    <a:pt x="446360" y="0"/>
                  </a:lnTo>
                  <a:lnTo>
                    <a:pt x="243160" y="545539"/>
                  </a:lnTo>
                  <a:lnTo>
                    <a:pt x="0" y="54553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9BD9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19050"/>
              <a:ext cx="243160" cy="564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84161" y="1677249"/>
            <a:ext cx="5634719" cy="5331853"/>
          </a:xfrm>
          <a:custGeom>
            <a:avLst/>
            <a:gdLst/>
            <a:ahLst/>
            <a:cxnLst/>
            <a:rect r="r" b="b" t="t" l="l"/>
            <a:pathLst>
              <a:path h="5331853" w="5634719">
                <a:moveTo>
                  <a:pt x="0" y="0"/>
                </a:moveTo>
                <a:lnTo>
                  <a:pt x="5634719" y="0"/>
                </a:lnTo>
                <a:lnTo>
                  <a:pt x="5634719" y="5331852"/>
                </a:lnTo>
                <a:lnTo>
                  <a:pt x="0" y="5331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95998" y="7923156"/>
            <a:ext cx="6806745" cy="10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35"/>
              </a:lnSpc>
              <a:spcBef>
                <a:spcPct val="0"/>
              </a:spcBef>
            </a:pPr>
            <a:r>
              <a:rPr lang="en-US" sz="6257" i="true">
                <a:solidFill>
                  <a:srgbClr val="FFFFFF"/>
                </a:solidFill>
                <a:latin typeface="TT Drugs Italics"/>
                <a:ea typeface="TT Drugs Italics"/>
                <a:cs typeface="TT Drugs Italics"/>
                <a:sym typeface="TT Drugs Italics"/>
              </a:rPr>
              <a:t>ISO 27001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84569" y="734579"/>
            <a:ext cx="7381627" cy="1814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81"/>
              </a:lnSpc>
              <a:spcBef>
                <a:spcPct val="0"/>
              </a:spcBef>
            </a:pPr>
            <a:r>
              <a:rPr lang="en-US" b="true" sz="5276">
                <a:solidFill>
                  <a:srgbClr val="4BACC6"/>
                </a:solidFill>
                <a:latin typeface="TT Drugs Bold"/>
                <a:ea typeface="TT Drugs Bold"/>
                <a:cs typeface="TT Drugs Bold"/>
                <a:sym typeface="TT Drugs Bold"/>
              </a:rPr>
              <a:t>Norma ISO 27001 y Criterios de Auditoría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5813" y="5750312"/>
            <a:ext cx="7294349" cy="216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5"/>
              </a:lnSpc>
              <a:spcBef>
                <a:spcPct val="0"/>
              </a:spcBef>
            </a:pPr>
            <a:r>
              <a:rPr lang="en-US" sz="2127" spc="20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Se utilizó un cuestionario detallado para recabar información sobre control de accesos, seguridad física, comunicaciones, gestión de activos, incidentes, políticas y cumplimiento legal.</a:t>
            </a:r>
          </a:p>
          <a:p>
            <a:pPr algn="l" marL="0" indent="0" lvl="0">
              <a:lnSpc>
                <a:spcPts val="293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4378" y="1112144"/>
            <a:ext cx="8600526" cy="199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5813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Metodología y Hallazgos Clave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97354" y="5495977"/>
            <a:ext cx="3648148" cy="3646913"/>
            <a:chOff x="0" y="0"/>
            <a:chExt cx="4262896" cy="42614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62882" cy="4261485"/>
            </a:xfrm>
            <a:custGeom>
              <a:avLst/>
              <a:gdLst/>
              <a:ahLst/>
              <a:cxnLst/>
              <a:rect r="r" b="b" t="t" l="l"/>
              <a:pathLst>
                <a:path h="4261485" w="4262882">
                  <a:moveTo>
                    <a:pt x="1699387" y="28829"/>
                  </a:moveTo>
                  <a:cubicBezTo>
                    <a:pt x="28829" y="1698879"/>
                    <a:pt x="28829" y="1698879"/>
                    <a:pt x="28829" y="1698879"/>
                  </a:cubicBezTo>
                  <a:cubicBezTo>
                    <a:pt x="0" y="1727708"/>
                    <a:pt x="0" y="1785239"/>
                    <a:pt x="28829" y="1814068"/>
                  </a:cubicBezTo>
                  <a:cubicBezTo>
                    <a:pt x="2477135" y="4232656"/>
                    <a:pt x="2477135" y="4232656"/>
                    <a:pt x="2477135" y="4232656"/>
                  </a:cubicBezTo>
                  <a:cubicBezTo>
                    <a:pt x="2505964" y="4261485"/>
                    <a:pt x="2534793" y="4261485"/>
                    <a:pt x="2563495" y="4232656"/>
                  </a:cubicBezTo>
                  <a:cubicBezTo>
                    <a:pt x="4262882" y="2562606"/>
                    <a:pt x="4262882" y="2562606"/>
                    <a:pt x="4262882" y="2562606"/>
                  </a:cubicBezTo>
                  <a:cubicBezTo>
                    <a:pt x="4262882" y="2562606"/>
                    <a:pt x="4262882" y="2533777"/>
                    <a:pt x="4262882" y="2505075"/>
                  </a:cubicBezTo>
                  <a:cubicBezTo>
                    <a:pt x="4262882" y="86360"/>
                    <a:pt x="4262882" y="86360"/>
                    <a:pt x="4262882" y="86360"/>
                  </a:cubicBezTo>
                  <a:cubicBezTo>
                    <a:pt x="4262882" y="28829"/>
                    <a:pt x="4234053" y="0"/>
                    <a:pt x="4205224" y="0"/>
                  </a:cubicBezTo>
                  <a:cubicBezTo>
                    <a:pt x="1757045" y="0"/>
                    <a:pt x="1757045" y="0"/>
                    <a:pt x="1757045" y="0"/>
                  </a:cubicBezTo>
                  <a:cubicBezTo>
                    <a:pt x="1728216" y="0"/>
                    <a:pt x="1728216" y="0"/>
                    <a:pt x="1699387" y="28829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537318" y="5495977"/>
            <a:ext cx="3721982" cy="3646913"/>
            <a:chOff x="0" y="0"/>
            <a:chExt cx="4349172" cy="426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49242" cy="4261485"/>
            </a:xfrm>
            <a:custGeom>
              <a:avLst/>
              <a:gdLst/>
              <a:ahLst/>
              <a:cxnLst/>
              <a:rect r="r" b="b" t="t" l="l"/>
              <a:pathLst>
                <a:path h="4261485" w="4349242">
                  <a:moveTo>
                    <a:pt x="28829" y="28829"/>
                  </a:moveTo>
                  <a:cubicBezTo>
                    <a:pt x="0" y="28829"/>
                    <a:pt x="0" y="57531"/>
                    <a:pt x="0" y="86360"/>
                  </a:cubicBezTo>
                  <a:cubicBezTo>
                    <a:pt x="0" y="2447417"/>
                    <a:pt x="0" y="2447417"/>
                    <a:pt x="0" y="2447417"/>
                  </a:cubicBezTo>
                  <a:cubicBezTo>
                    <a:pt x="0" y="2447417"/>
                    <a:pt x="0" y="2476246"/>
                    <a:pt x="28829" y="2476246"/>
                  </a:cubicBezTo>
                  <a:cubicBezTo>
                    <a:pt x="1785747" y="4232656"/>
                    <a:pt x="1785747" y="4232656"/>
                    <a:pt x="1785747" y="4232656"/>
                  </a:cubicBezTo>
                  <a:cubicBezTo>
                    <a:pt x="1814576" y="4261485"/>
                    <a:pt x="1843405" y="4261485"/>
                    <a:pt x="1872107" y="4232656"/>
                  </a:cubicBezTo>
                  <a:cubicBezTo>
                    <a:pt x="4320413" y="1813941"/>
                    <a:pt x="4320413" y="1813941"/>
                    <a:pt x="4320413" y="1813941"/>
                  </a:cubicBezTo>
                  <a:cubicBezTo>
                    <a:pt x="4349242" y="1785112"/>
                    <a:pt x="4349242" y="1727581"/>
                    <a:pt x="4320413" y="1698752"/>
                  </a:cubicBezTo>
                  <a:cubicBezTo>
                    <a:pt x="2649855" y="28829"/>
                    <a:pt x="2649855" y="28829"/>
                    <a:pt x="2649855" y="28829"/>
                  </a:cubicBezTo>
                  <a:cubicBezTo>
                    <a:pt x="2621026" y="0"/>
                    <a:pt x="2621026" y="0"/>
                    <a:pt x="2592197" y="0"/>
                  </a:cubicBezTo>
                  <a:cubicBezTo>
                    <a:pt x="57658" y="0"/>
                    <a:pt x="57658" y="0"/>
                    <a:pt x="57658" y="0"/>
                  </a:cubicBezTo>
                  <a:cubicBezTo>
                    <a:pt x="57658" y="0"/>
                    <a:pt x="28829" y="0"/>
                    <a:pt x="28829" y="28829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537318" y="1305657"/>
            <a:ext cx="3721982" cy="3721673"/>
            <a:chOff x="0" y="0"/>
            <a:chExt cx="4349172" cy="43488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49242" cy="4348861"/>
            </a:xfrm>
            <a:custGeom>
              <a:avLst/>
              <a:gdLst/>
              <a:ahLst/>
              <a:cxnLst/>
              <a:rect r="r" b="b" t="t" l="l"/>
              <a:pathLst>
                <a:path h="4348861" w="4349242">
                  <a:moveTo>
                    <a:pt x="144018" y="4348861"/>
                  </a:moveTo>
                  <a:cubicBezTo>
                    <a:pt x="2505837" y="4348861"/>
                    <a:pt x="2505837" y="4348861"/>
                    <a:pt x="2505837" y="4348861"/>
                  </a:cubicBezTo>
                  <a:cubicBezTo>
                    <a:pt x="2534666" y="4348861"/>
                    <a:pt x="2534666" y="4320032"/>
                    <a:pt x="2563495" y="4320032"/>
                  </a:cubicBezTo>
                  <a:cubicBezTo>
                    <a:pt x="4320413" y="2563241"/>
                    <a:pt x="4320413" y="2563241"/>
                    <a:pt x="4320413" y="2563241"/>
                  </a:cubicBezTo>
                  <a:cubicBezTo>
                    <a:pt x="4349242" y="2534412"/>
                    <a:pt x="4349242" y="2476881"/>
                    <a:pt x="4320413" y="2448052"/>
                  </a:cubicBezTo>
                  <a:cubicBezTo>
                    <a:pt x="1872107" y="28829"/>
                    <a:pt x="1872107" y="28829"/>
                    <a:pt x="1872107" y="28829"/>
                  </a:cubicBezTo>
                  <a:cubicBezTo>
                    <a:pt x="1843278" y="0"/>
                    <a:pt x="1814449" y="0"/>
                    <a:pt x="1785747" y="28829"/>
                  </a:cubicBezTo>
                  <a:cubicBezTo>
                    <a:pt x="28829" y="1785620"/>
                    <a:pt x="28829" y="1785620"/>
                    <a:pt x="28829" y="1785620"/>
                  </a:cubicBezTo>
                  <a:cubicBezTo>
                    <a:pt x="0" y="1785620"/>
                    <a:pt x="0" y="1814449"/>
                    <a:pt x="0" y="1814449"/>
                  </a:cubicBezTo>
                  <a:cubicBezTo>
                    <a:pt x="0" y="4233672"/>
                    <a:pt x="0" y="4233672"/>
                    <a:pt x="0" y="4233672"/>
                  </a:cubicBezTo>
                  <a:cubicBezTo>
                    <a:pt x="0" y="4348861"/>
                    <a:pt x="57658" y="4348861"/>
                    <a:pt x="144018" y="4348861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97354" y="1305657"/>
            <a:ext cx="3648148" cy="3721673"/>
            <a:chOff x="0" y="0"/>
            <a:chExt cx="4262896" cy="43488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62882" cy="4348861"/>
            </a:xfrm>
            <a:custGeom>
              <a:avLst/>
              <a:gdLst/>
              <a:ahLst/>
              <a:cxnLst/>
              <a:rect r="r" b="b" t="t" l="l"/>
              <a:pathLst>
                <a:path h="4348861" w="4262882">
                  <a:moveTo>
                    <a:pt x="4262882" y="4320032"/>
                  </a:moveTo>
                  <a:cubicBezTo>
                    <a:pt x="4262882" y="4291203"/>
                    <a:pt x="4262882" y="4291203"/>
                    <a:pt x="4262882" y="4262374"/>
                  </a:cubicBezTo>
                  <a:cubicBezTo>
                    <a:pt x="4262882" y="1727962"/>
                    <a:pt x="4262882" y="1727962"/>
                    <a:pt x="4262882" y="1727962"/>
                  </a:cubicBezTo>
                  <a:cubicBezTo>
                    <a:pt x="4262882" y="1727962"/>
                    <a:pt x="4262882" y="1699133"/>
                    <a:pt x="4262882" y="1699133"/>
                  </a:cubicBezTo>
                  <a:cubicBezTo>
                    <a:pt x="2563495" y="28829"/>
                    <a:pt x="2563495" y="28829"/>
                    <a:pt x="2563495" y="28829"/>
                  </a:cubicBezTo>
                  <a:cubicBezTo>
                    <a:pt x="2534666" y="0"/>
                    <a:pt x="2505837" y="0"/>
                    <a:pt x="2477135" y="28829"/>
                  </a:cubicBezTo>
                  <a:cubicBezTo>
                    <a:pt x="28829" y="2448052"/>
                    <a:pt x="28829" y="2448052"/>
                    <a:pt x="28829" y="2448052"/>
                  </a:cubicBezTo>
                  <a:cubicBezTo>
                    <a:pt x="0" y="2476881"/>
                    <a:pt x="0" y="2534412"/>
                    <a:pt x="28829" y="2563241"/>
                  </a:cubicBezTo>
                  <a:cubicBezTo>
                    <a:pt x="1785747" y="4320032"/>
                    <a:pt x="1785747" y="4320032"/>
                    <a:pt x="1785747" y="4320032"/>
                  </a:cubicBezTo>
                  <a:cubicBezTo>
                    <a:pt x="1814576" y="4320032"/>
                    <a:pt x="1814576" y="4348861"/>
                    <a:pt x="1843405" y="4348861"/>
                  </a:cubicBezTo>
                  <a:cubicBezTo>
                    <a:pt x="4205224" y="4348861"/>
                    <a:pt x="4205224" y="4348861"/>
                    <a:pt x="4205224" y="4348861"/>
                  </a:cubicBezTo>
                  <a:cubicBezTo>
                    <a:pt x="4205224" y="4348861"/>
                    <a:pt x="4234053" y="4320032"/>
                    <a:pt x="4262882" y="4320032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8448" y="3783177"/>
            <a:ext cx="904524" cy="90452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8448" y="5021280"/>
            <a:ext cx="904524" cy="90452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68448" y="6259382"/>
            <a:ext cx="904524" cy="90452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8448" y="7497485"/>
            <a:ext cx="904524" cy="90452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  <a:r>
                <a:rPr lang="en-US" sz="2999">
                  <a:solidFill>
                    <a:srgbClr val="FFFFFF"/>
                  </a:solidFill>
                  <a:latin typeface="TT Drugs"/>
                  <a:ea typeface="TT Drugs"/>
                  <a:cs typeface="TT Drugs"/>
                  <a:sym typeface="TT Drugs"/>
                </a:rPr>
                <a:t>04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0800000">
            <a:off x="0" y="-449052"/>
            <a:ext cx="7262322" cy="2086267"/>
          </a:xfrm>
          <a:custGeom>
            <a:avLst/>
            <a:gdLst/>
            <a:ahLst/>
            <a:cxnLst/>
            <a:rect r="r" b="b" t="t" l="l"/>
            <a:pathLst>
              <a:path h="2086267" w="7262322">
                <a:moveTo>
                  <a:pt x="0" y="0"/>
                </a:moveTo>
                <a:lnTo>
                  <a:pt x="7262322" y="0"/>
                </a:lnTo>
                <a:lnTo>
                  <a:pt x="7262322" y="2086267"/>
                </a:lnTo>
                <a:lnTo>
                  <a:pt x="0" y="208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-10800000">
            <a:off x="2721856" y="8654151"/>
            <a:ext cx="7262322" cy="2086267"/>
          </a:xfrm>
          <a:custGeom>
            <a:avLst/>
            <a:gdLst/>
            <a:ahLst/>
            <a:cxnLst/>
            <a:rect r="r" b="b" t="t" l="l"/>
            <a:pathLst>
              <a:path h="2086267" w="7262322">
                <a:moveTo>
                  <a:pt x="7262322" y="2086266"/>
                </a:moveTo>
                <a:lnTo>
                  <a:pt x="0" y="2086266"/>
                </a:lnTo>
                <a:lnTo>
                  <a:pt x="0" y="0"/>
                </a:lnTo>
                <a:lnTo>
                  <a:pt x="7262322" y="0"/>
                </a:lnTo>
                <a:lnTo>
                  <a:pt x="7262322" y="20862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082874" y="5771995"/>
            <a:ext cx="1449919" cy="1588557"/>
          </a:xfrm>
          <a:custGeom>
            <a:avLst/>
            <a:gdLst/>
            <a:ahLst/>
            <a:cxnLst/>
            <a:rect r="r" b="b" t="t" l="l"/>
            <a:pathLst>
              <a:path h="1588557" w="1449919">
                <a:moveTo>
                  <a:pt x="0" y="0"/>
                </a:moveTo>
                <a:lnTo>
                  <a:pt x="1449919" y="0"/>
                </a:lnTo>
                <a:lnTo>
                  <a:pt x="1449919" y="1588557"/>
                </a:lnTo>
                <a:lnTo>
                  <a:pt x="0" y="15885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221428" y="5941894"/>
            <a:ext cx="1434014" cy="1539500"/>
          </a:xfrm>
          <a:custGeom>
            <a:avLst/>
            <a:gdLst/>
            <a:ahLst/>
            <a:cxnLst/>
            <a:rect r="r" b="b" t="t" l="l"/>
            <a:pathLst>
              <a:path h="1539500" w="1434014">
                <a:moveTo>
                  <a:pt x="0" y="0"/>
                </a:moveTo>
                <a:lnTo>
                  <a:pt x="1434014" y="0"/>
                </a:lnTo>
                <a:lnTo>
                  <a:pt x="1434014" y="1539500"/>
                </a:lnTo>
                <a:lnTo>
                  <a:pt x="0" y="1539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985573" y="3166494"/>
            <a:ext cx="1473915" cy="1473915"/>
          </a:xfrm>
          <a:custGeom>
            <a:avLst/>
            <a:gdLst/>
            <a:ahLst/>
            <a:cxnLst/>
            <a:rect r="r" b="b" t="t" l="l"/>
            <a:pathLst>
              <a:path h="1473915" w="1473915">
                <a:moveTo>
                  <a:pt x="0" y="0"/>
                </a:moveTo>
                <a:lnTo>
                  <a:pt x="1473916" y="0"/>
                </a:lnTo>
                <a:lnTo>
                  <a:pt x="1473916" y="1473915"/>
                </a:lnTo>
                <a:lnTo>
                  <a:pt x="0" y="14739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974249" y="3246078"/>
            <a:ext cx="1681193" cy="1441623"/>
          </a:xfrm>
          <a:custGeom>
            <a:avLst/>
            <a:gdLst/>
            <a:ahLst/>
            <a:cxnLst/>
            <a:rect r="r" b="b" t="t" l="l"/>
            <a:pathLst>
              <a:path h="1441623" w="1681193">
                <a:moveTo>
                  <a:pt x="0" y="0"/>
                </a:moveTo>
                <a:lnTo>
                  <a:pt x="1681193" y="0"/>
                </a:lnTo>
                <a:lnTo>
                  <a:pt x="1681193" y="1441623"/>
                </a:lnTo>
                <a:lnTo>
                  <a:pt x="0" y="14416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578729" y="4061494"/>
            <a:ext cx="6323325" cy="5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  <a:r>
              <a:rPr lang="en-US" sz="1517" spc="14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Evaluación del estado y ubicación de equipos en sitio.</a:t>
            </a:r>
          </a:p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578729" y="3774025"/>
            <a:ext cx="3300634" cy="29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4"/>
              </a:lnSpc>
              <a:spcBef>
                <a:spcPct val="0"/>
              </a:spcBef>
            </a:pPr>
            <a:r>
              <a:rPr lang="en-US" b="true" sz="1764" spc="172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INSPECCIÓN FÍSICA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578729" y="5299596"/>
            <a:ext cx="6323325" cy="77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  <a:r>
              <a:rPr lang="en-US" sz="1517" spc="14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Verificación de funcionamiento de DVRs, cámaras y almacenamiento.</a:t>
            </a:r>
          </a:p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2578729" y="5012127"/>
            <a:ext cx="3161662" cy="29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4"/>
              </a:lnSpc>
              <a:spcBef>
                <a:spcPct val="0"/>
              </a:spcBef>
            </a:pPr>
            <a:r>
              <a:rPr lang="en-US" b="true" sz="1764" spc="172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PRUEBAS TÉCNICAS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578729" y="6537699"/>
            <a:ext cx="6323325" cy="778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  <a:r>
              <a:rPr lang="en-US" sz="1517" spc="14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Conversaciones con personal de mantenimiento y operación.</a:t>
            </a:r>
          </a:p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2578729" y="6250230"/>
            <a:ext cx="3161662" cy="29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4"/>
              </a:lnSpc>
              <a:spcBef>
                <a:spcPct val="0"/>
              </a:spcBef>
            </a:pPr>
            <a:r>
              <a:rPr lang="en-US" b="true" sz="1764" spc="172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ENTREVISTAS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78729" y="7775801"/>
            <a:ext cx="6323325" cy="517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  <a:r>
              <a:rPr lang="en-US" sz="1517" spc="14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Revisión de manuales, protocolos y registros previos.</a:t>
            </a:r>
          </a:p>
          <a:p>
            <a:pPr algn="l" marL="0" indent="0" lvl="0">
              <a:lnSpc>
                <a:spcPts val="2094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578729" y="7488332"/>
            <a:ext cx="3410385" cy="29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4"/>
              </a:lnSpc>
              <a:spcBef>
                <a:spcPct val="0"/>
              </a:spcBef>
            </a:pPr>
            <a:r>
              <a:rPr lang="en-US" b="true" sz="1764" spc="172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ANÁLISIS DOCUMENTAL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2" r="0" b="-16570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35607" y="784942"/>
            <a:ext cx="8013819" cy="2209935"/>
            <a:chOff x="0" y="0"/>
            <a:chExt cx="2672988" cy="7371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72988" cy="737118"/>
            </a:xfrm>
            <a:custGeom>
              <a:avLst/>
              <a:gdLst/>
              <a:ahLst/>
              <a:cxnLst/>
              <a:rect r="r" b="b" t="t" l="l"/>
              <a:pathLst>
                <a:path h="737118" w="2672988">
                  <a:moveTo>
                    <a:pt x="0" y="0"/>
                  </a:moveTo>
                  <a:lnTo>
                    <a:pt x="2672988" y="0"/>
                  </a:lnTo>
                  <a:lnTo>
                    <a:pt x="2672988" y="737118"/>
                  </a:lnTo>
                  <a:lnTo>
                    <a:pt x="0" y="737118"/>
                  </a:lnTo>
                  <a:close/>
                </a:path>
              </a:pathLst>
            </a:custGeom>
            <a:solidFill>
              <a:srgbClr val="FFFFFF">
                <a:alpha val="9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672988" cy="8418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8022"/>
                </a:lnSpc>
                <a:spcBef>
                  <a:spcPct val="0"/>
                </a:spcBef>
              </a:pPr>
              <a:r>
                <a:rPr lang="en-US" sz="5813" spc="569">
                  <a:solidFill>
                    <a:srgbClr val="231F20">
                      <a:alpha val="96863"/>
                    </a:srgbClr>
                  </a:solidFill>
                  <a:latin typeface="TT Drugs"/>
                  <a:ea typeface="TT Drugs"/>
                  <a:cs typeface="TT Drugs"/>
                  <a:sym typeface="TT Drugs"/>
                </a:rPr>
                <a:t>Recomendaciones Clave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724872"/>
            <a:ext cx="5257722" cy="1038400"/>
          </a:xfrm>
          <a:custGeom>
            <a:avLst/>
            <a:gdLst/>
            <a:ahLst/>
            <a:cxnLst/>
            <a:rect r="r" b="b" t="t" l="l"/>
            <a:pathLst>
              <a:path h="1038400" w="5257722">
                <a:moveTo>
                  <a:pt x="0" y="0"/>
                </a:moveTo>
                <a:lnTo>
                  <a:pt x="5257722" y="0"/>
                </a:lnTo>
                <a:lnTo>
                  <a:pt x="5257722" y="1038401"/>
                </a:lnTo>
                <a:lnTo>
                  <a:pt x="0" y="1038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2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13656" y="8724872"/>
            <a:ext cx="5257722" cy="1038400"/>
          </a:xfrm>
          <a:custGeom>
            <a:avLst/>
            <a:gdLst/>
            <a:ahLst/>
            <a:cxnLst/>
            <a:rect r="r" b="b" t="t" l="l"/>
            <a:pathLst>
              <a:path h="1038400" w="5257722">
                <a:moveTo>
                  <a:pt x="0" y="0"/>
                </a:moveTo>
                <a:lnTo>
                  <a:pt x="5257722" y="0"/>
                </a:lnTo>
                <a:lnTo>
                  <a:pt x="5257722" y="1038401"/>
                </a:lnTo>
                <a:lnTo>
                  <a:pt x="0" y="1038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2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99978" y="8739100"/>
            <a:ext cx="5257722" cy="1038400"/>
          </a:xfrm>
          <a:custGeom>
            <a:avLst/>
            <a:gdLst/>
            <a:ahLst/>
            <a:cxnLst/>
            <a:rect r="r" b="b" t="t" l="l"/>
            <a:pathLst>
              <a:path h="1038400" w="5257722">
                <a:moveTo>
                  <a:pt x="0" y="0"/>
                </a:moveTo>
                <a:lnTo>
                  <a:pt x="5257723" y="0"/>
                </a:lnTo>
                <a:lnTo>
                  <a:pt x="5257723" y="1038400"/>
                </a:lnTo>
                <a:lnTo>
                  <a:pt x="0" y="103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2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002944" y="3528277"/>
            <a:ext cx="5256356" cy="5730023"/>
            <a:chOff x="0" y="0"/>
            <a:chExt cx="1336313" cy="14567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6313" cy="1456733"/>
            </a:xfrm>
            <a:custGeom>
              <a:avLst/>
              <a:gdLst/>
              <a:ahLst/>
              <a:cxnLst/>
              <a:rect r="r" b="b" t="t" l="l"/>
              <a:pathLst>
                <a:path h="1456733" w="1336313">
                  <a:moveTo>
                    <a:pt x="5891" y="0"/>
                  </a:moveTo>
                  <a:lnTo>
                    <a:pt x="1330422" y="0"/>
                  </a:lnTo>
                  <a:cubicBezTo>
                    <a:pt x="1333676" y="0"/>
                    <a:pt x="1336313" y="2638"/>
                    <a:pt x="1336313" y="5891"/>
                  </a:cubicBezTo>
                  <a:lnTo>
                    <a:pt x="1336313" y="1450841"/>
                  </a:lnTo>
                  <a:cubicBezTo>
                    <a:pt x="1336313" y="1454095"/>
                    <a:pt x="1333676" y="1456733"/>
                    <a:pt x="1330422" y="1456733"/>
                  </a:cubicBezTo>
                  <a:lnTo>
                    <a:pt x="5891" y="1456733"/>
                  </a:lnTo>
                  <a:cubicBezTo>
                    <a:pt x="2638" y="1456733"/>
                    <a:pt x="0" y="1454095"/>
                    <a:pt x="0" y="1450841"/>
                  </a:cubicBezTo>
                  <a:lnTo>
                    <a:pt x="0" y="5891"/>
                  </a:lnTo>
                  <a:cubicBezTo>
                    <a:pt x="0" y="2638"/>
                    <a:pt x="2638" y="0"/>
                    <a:pt x="589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336313" cy="1475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15022" y="3528277"/>
            <a:ext cx="5256356" cy="5730023"/>
            <a:chOff x="0" y="0"/>
            <a:chExt cx="1336313" cy="14567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6313" cy="1456733"/>
            </a:xfrm>
            <a:custGeom>
              <a:avLst/>
              <a:gdLst/>
              <a:ahLst/>
              <a:cxnLst/>
              <a:rect r="r" b="b" t="t" l="l"/>
              <a:pathLst>
                <a:path h="1456733" w="1336313">
                  <a:moveTo>
                    <a:pt x="5891" y="0"/>
                  </a:moveTo>
                  <a:lnTo>
                    <a:pt x="1330422" y="0"/>
                  </a:lnTo>
                  <a:cubicBezTo>
                    <a:pt x="1333676" y="0"/>
                    <a:pt x="1336313" y="2638"/>
                    <a:pt x="1336313" y="5891"/>
                  </a:cubicBezTo>
                  <a:lnTo>
                    <a:pt x="1336313" y="1450841"/>
                  </a:lnTo>
                  <a:cubicBezTo>
                    <a:pt x="1336313" y="1454095"/>
                    <a:pt x="1333676" y="1456733"/>
                    <a:pt x="1330422" y="1456733"/>
                  </a:cubicBezTo>
                  <a:lnTo>
                    <a:pt x="5891" y="1456733"/>
                  </a:lnTo>
                  <a:cubicBezTo>
                    <a:pt x="2638" y="1456733"/>
                    <a:pt x="0" y="1454095"/>
                    <a:pt x="0" y="1450841"/>
                  </a:cubicBezTo>
                  <a:lnTo>
                    <a:pt x="0" y="5891"/>
                  </a:lnTo>
                  <a:cubicBezTo>
                    <a:pt x="0" y="2638"/>
                    <a:pt x="2638" y="0"/>
                    <a:pt x="589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36313" cy="1475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528277"/>
            <a:ext cx="5256356" cy="5730023"/>
            <a:chOff x="0" y="0"/>
            <a:chExt cx="1336313" cy="14567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6313" cy="1456733"/>
            </a:xfrm>
            <a:custGeom>
              <a:avLst/>
              <a:gdLst/>
              <a:ahLst/>
              <a:cxnLst/>
              <a:rect r="r" b="b" t="t" l="l"/>
              <a:pathLst>
                <a:path h="1456733" w="1336313">
                  <a:moveTo>
                    <a:pt x="5891" y="0"/>
                  </a:moveTo>
                  <a:lnTo>
                    <a:pt x="1330422" y="0"/>
                  </a:lnTo>
                  <a:cubicBezTo>
                    <a:pt x="1333676" y="0"/>
                    <a:pt x="1336313" y="2638"/>
                    <a:pt x="1336313" y="5891"/>
                  </a:cubicBezTo>
                  <a:lnTo>
                    <a:pt x="1336313" y="1450841"/>
                  </a:lnTo>
                  <a:cubicBezTo>
                    <a:pt x="1336313" y="1454095"/>
                    <a:pt x="1333676" y="1456733"/>
                    <a:pt x="1330422" y="1456733"/>
                  </a:cubicBezTo>
                  <a:lnTo>
                    <a:pt x="5891" y="1456733"/>
                  </a:lnTo>
                  <a:cubicBezTo>
                    <a:pt x="2638" y="1456733"/>
                    <a:pt x="0" y="1454095"/>
                    <a:pt x="0" y="1450841"/>
                  </a:cubicBezTo>
                  <a:lnTo>
                    <a:pt x="0" y="5891"/>
                  </a:lnTo>
                  <a:cubicBezTo>
                    <a:pt x="0" y="2638"/>
                    <a:pt x="2638" y="0"/>
                    <a:pt x="589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336313" cy="1475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2538835" y="7061797"/>
            <a:ext cx="1862495" cy="1862495"/>
          </a:xfrm>
          <a:custGeom>
            <a:avLst/>
            <a:gdLst/>
            <a:ahLst/>
            <a:cxnLst/>
            <a:rect r="r" b="b" t="t" l="l"/>
            <a:pathLst>
              <a:path h="1862495" w="1862495">
                <a:moveTo>
                  <a:pt x="0" y="0"/>
                </a:moveTo>
                <a:lnTo>
                  <a:pt x="1862495" y="0"/>
                </a:lnTo>
                <a:lnTo>
                  <a:pt x="1862495" y="1862495"/>
                </a:lnTo>
                <a:lnTo>
                  <a:pt x="0" y="186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211270" y="7061797"/>
            <a:ext cx="1862495" cy="1862495"/>
          </a:xfrm>
          <a:custGeom>
            <a:avLst/>
            <a:gdLst/>
            <a:ahLst/>
            <a:cxnLst/>
            <a:rect r="r" b="b" t="t" l="l"/>
            <a:pathLst>
              <a:path h="1862495" w="1862495">
                <a:moveTo>
                  <a:pt x="0" y="0"/>
                </a:moveTo>
                <a:lnTo>
                  <a:pt x="1862494" y="0"/>
                </a:lnTo>
                <a:lnTo>
                  <a:pt x="1862494" y="1862495"/>
                </a:lnTo>
                <a:lnTo>
                  <a:pt x="0" y="1862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84781" y="6939452"/>
            <a:ext cx="2280296" cy="2160581"/>
          </a:xfrm>
          <a:custGeom>
            <a:avLst/>
            <a:gdLst/>
            <a:ahLst/>
            <a:cxnLst/>
            <a:rect r="r" b="b" t="t" l="l"/>
            <a:pathLst>
              <a:path h="2160581" w="2280296">
                <a:moveTo>
                  <a:pt x="0" y="0"/>
                </a:moveTo>
                <a:lnTo>
                  <a:pt x="2280296" y="0"/>
                </a:lnTo>
                <a:lnTo>
                  <a:pt x="2280296" y="2160580"/>
                </a:lnTo>
                <a:lnTo>
                  <a:pt x="0" y="2160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44121" y="5635987"/>
            <a:ext cx="3425513" cy="130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901" spc="186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Implementar programa regular de limpieza y revisión técnica.</a:t>
            </a:r>
          </a:p>
          <a:p>
            <a:pPr algn="ctr" marL="0" indent="0" lvl="0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576063" y="4216267"/>
            <a:ext cx="3992601" cy="92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MANTENIMIENTO PREVENTIVO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1927" y="5431122"/>
            <a:ext cx="3425513" cy="163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4"/>
              </a:lnSpc>
              <a:spcBef>
                <a:spcPct val="0"/>
              </a:spcBef>
            </a:pPr>
            <a:r>
              <a:rPr lang="en-US" sz="1901" spc="186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Reubicar cámaras, actualizar DVRs obsoletos y mejorar SITEs.</a:t>
            </a:r>
          </a:p>
          <a:p>
            <a:pPr algn="ctr" marL="0" indent="0" lvl="0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148383" y="4216267"/>
            <a:ext cx="3992601" cy="92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REUBICACIÓN Y ACTUALIZACIÓN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98695" y="3613288"/>
            <a:ext cx="547336" cy="45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71015" y="3613288"/>
            <a:ext cx="547336" cy="45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18365" y="5506304"/>
            <a:ext cx="3425513" cy="130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1901" spc="186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Optimizar uso del sistema y detección temprana de fallas.</a:t>
            </a:r>
          </a:p>
          <a:p>
            <a:pPr algn="ctr" marL="0" indent="0" lvl="0">
              <a:lnSpc>
                <a:spcPts val="2624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628628" y="4338612"/>
            <a:ext cx="3992601" cy="92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CAPACITACIÓN DEL PERSONAL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51261" y="3735633"/>
            <a:ext cx="547336" cy="45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4"/>
              </a:lnSpc>
              <a:spcBef>
                <a:spcPct val="0"/>
              </a:spcBef>
            </a:pPr>
            <a:r>
              <a:rPr lang="en-US" b="true" sz="2669" spc="261">
                <a:solidFill>
                  <a:srgbClr val="0071BC"/>
                </a:solidFill>
                <a:latin typeface="TT Drugs Bold"/>
                <a:ea typeface="TT Drugs Bold"/>
                <a:cs typeface="TT Drugs Bold"/>
                <a:sym typeface="TT Drug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6958" y="7598770"/>
            <a:ext cx="19422979" cy="4048067"/>
            <a:chOff x="0" y="0"/>
            <a:chExt cx="5183355" cy="10802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83355" cy="1080296"/>
            </a:xfrm>
            <a:custGeom>
              <a:avLst/>
              <a:gdLst/>
              <a:ahLst/>
              <a:cxnLst/>
              <a:rect r="r" b="b" t="t" l="l"/>
              <a:pathLst>
                <a:path h="1080296" w="5183355">
                  <a:moveTo>
                    <a:pt x="1594" y="0"/>
                  </a:moveTo>
                  <a:lnTo>
                    <a:pt x="5181760" y="0"/>
                  </a:lnTo>
                  <a:cubicBezTo>
                    <a:pt x="5182641" y="0"/>
                    <a:pt x="5183355" y="714"/>
                    <a:pt x="5183355" y="1594"/>
                  </a:cubicBezTo>
                  <a:lnTo>
                    <a:pt x="5183355" y="1078702"/>
                  </a:lnTo>
                  <a:cubicBezTo>
                    <a:pt x="5183355" y="1079582"/>
                    <a:pt x="5182641" y="1080296"/>
                    <a:pt x="5181760" y="1080296"/>
                  </a:cubicBezTo>
                  <a:lnTo>
                    <a:pt x="1594" y="1080296"/>
                  </a:lnTo>
                  <a:cubicBezTo>
                    <a:pt x="1172" y="1080296"/>
                    <a:pt x="766" y="1080128"/>
                    <a:pt x="467" y="1079829"/>
                  </a:cubicBezTo>
                  <a:cubicBezTo>
                    <a:pt x="168" y="1079530"/>
                    <a:pt x="0" y="1079125"/>
                    <a:pt x="0" y="1078702"/>
                  </a:cubicBezTo>
                  <a:lnTo>
                    <a:pt x="0" y="1594"/>
                  </a:lnTo>
                  <a:cubicBezTo>
                    <a:pt x="0" y="1172"/>
                    <a:pt x="168" y="766"/>
                    <a:pt x="467" y="467"/>
                  </a:cubicBezTo>
                  <a:cubicBezTo>
                    <a:pt x="766" y="168"/>
                    <a:pt x="1172" y="0"/>
                    <a:pt x="1594" y="0"/>
                  </a:cubicBezTo>
                  <a:close/>
                </a:path>
              </a:pathLst>
            </a:custGeom>
            <a:solidFill>
              <a:srgbClr val="BFE5E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183355" cy="10993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288000" y="7299674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869982" y="3513722"/>
            <a:ext cx="3236032" cy="1551812"/>
            <a:chOff x="0" y="0"/>
            <a:chExt cx="4314710" cy="206908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4314710" cy="667229"/>
              <a:chOff x="0" y="0"/>
              <a:chExt cx="4159837" cy="64327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159858" cy="643255"/>
              </a:xfrm>
              <a:custGeom>
                <a:avLst/>
                <a:gdLst/>
                <a:ahLst/>
                <a:cxnLst/>
                <a:rect r="r" b="b" t="t" l="l"/>
                <a:pathLst>
                  <a:path h="643255" w="4159858">
                    <a:moveTo>
                      <a:pt x="305495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643255"/>
                      <a:pt x="0" y="643255"/>
                      <a:pt x="0" y="643255"/>
                    </a:cubicBezTo>
                    <a:cubicBezTo>
                      <a:pt x="4159858" y="643255"/>
                      <a:pt x="4159858" y="643255"/>
                      <a:pt x="4159858" y="643255"/>
                    </a:cubicBezTo>
                    <a:cubicBezTo>
                      <a:pt x="4159858" y="546735"/>
                      <a:pt x="4159858" y="546735"/>
                      <a:pt x="4159858" y="546735"/>
                    </a:cubicBezTo>
                    <a:cubicBezTo>
                      <a:pt x="4159858" y="257302"/>
                      <a:pt x="3639734" y="0"/>
                      <a:pt x="3054956" y="0"/>
                    </a:cubicBezTo>
                  </a:path>
                </a:pathLst>
              </a:custGeom>
              <a:solidFill>
                <a:srgbClr val="4BACC6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667229"/>
              <a:ext cx="4314710" cy="1401854"/>
              <a:chOff x="0" y="0"/>
              <a:chExt cx="4159837" cy="135153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159858" cy="1351534"/>
              </a:xfrm>
              <a:custGeom>
                <a:avLst/>
                <a:gdLst/>
                <a:ahLst/>
                <a:cxnLst/>
                <a:rect r="r" b="b" t="t" l="l"/>
                <a:pathLst>
                  <a:path h="1351534" w="4159858">
                    <a:moveTo>
                      <a:pt x="0" y="643636"/>
                    </a:moveTo>
                    <a:cubicBezTo>
                      <a:pt x="779961" y="643636"/>
                      <a:pt x="779961" y="643636"/>
                      <a:pt x="779961" y="643636"/>
                    </a:cubicBezTo>
                    <a:cubicBezTo>
                      <a:pt x="1624813" y="1351534"/>
                      <a:pt x="1624813" y="1351534"/>
                      <a:pt x="1624813" y="1351534"/>
                    </a:cubicBezTo>
                    <a:cubicBezTo>
                      <a:pt x="2469921" y="643636"/>
                      <a:pt x="2469921" y="643636"/>
                      <a:pt x="2469921" y="643636"/>
                    </a:cubicBezTo>
                    <a:cubicBezTo>
                      <a:pt x="3054956" y="643636"/>
                      <a:pt x="3054956" y="643636"/>
                      <a:pt x="3054956" y="643636"/>
                    </a:cubicBezTo>
                    <a:cubicBezTo>
                      <a:pt x="3639991" y="643636"/>
                      <a:pt x="4159858" y="386207"/>
                      <a:pt x="4159858" y="96647"/>
                    </a:cubicBezTo>
                    <a:cubicBezTo>
                      <a:pt x="4159858" y="127"/>
                      <a:pt x="4159858" y="127"/>
                      <a:pt x="4159858" y="127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643636"/>
                    </a:lnTo>
                    <a:close/>
                  </a:path>
                </a:pathLst>
              </a:custGeom>
              <a:solidFill>
                <a:srgbClr val="9BD9E4"/>
              </a:solidFill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9968139" y="3513722"/>
            <a:ext cx="3938468" cy="1551812"/>
            <a:chOff x="0" y="0"/>
            <a:chExt cx="5251290" cy="206908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251290" cy="667229"/>
              <a:chOff x="0" y="0"/>
              <a:chExt cx="5062800" cy="64327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062754" cy="643255"/>
              </a:xfrm>
              <a:custGeom>
                <a:avLst/>
                <a:gdLst/>
                <a:ahLst/>
                <a:cxnLst/>
                <a:rect r="r" b="b" t="t" l="l"/>
                <a:pathLst>
                  <a:path h="643255" w="5062754">
                    <a:moveTo>
                      <a:pt x="0" y="0"/>
                    </a:moveTo>
                    <a:lnTo>
                      <a:pt x="5062754" y="0"/>
                    </a:lnTo>
                    <a:lnTo>
                      <a:pt x="5062754" y="643255"/>
                    </a:lnTo>
                    <a:lnTo>
                      <a:pt x="0" y="643255"/>
                    </a:lnTo>
                    <a:close/>
                  </a:path>
                </a:pathLst>
              </a:custGeom>
              <a:solidFill>
                <a:srgbClr val="4BACC6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667229"/>
              <a:ext cx="5251290" cy="1401854"/>
              <a:chOff x="0" y="0"/>
              <a:chExt cx="5062800" cy="1351536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062754" cy="1351534"/>
              </a:xfrm>
              <a:custGeom>
                <a:avLst/>
                <a:gdLst/>
                <a:ahLst/>
                <a:cxnLst/>
                <a:rect r="r" b="b" t="t" l="l"/>
                <a:pathLst>
                  <a:path h="1351534" w="5062754">
                    <a:moveTo>
                      <a:pt x="0" y="0"/>
                    </a:moveTo>
                    <a:lnTo>
                      <a:pt x="0" y="644271"/>
                    </a:lnTo>
                    <a:lnTo>
                      <a:pt x="1906139" y="644271"/>
                    </a:lnTo>
                    <a:lnTo>
                      <a:pt x="2358061" y="1351534"/>
                    </a:lnTo>
                    <a:lnTo>
                      <a:pt x="2807658" y="644271"/>
                    </a:lnTo>
                    <a:lnTo>
                      <a:pt x="5062754" y="644271"/>
                    </a:lnTo>
                    <a:lnTo>
                      <a:pt x="50627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D9E4"/>
              </a:solid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5661788" y="3513722"/>
            <a:ext cx="4306351" cy="1551812"/>
            <a:chOff x="0" y="0"/>
            <a:chExt cx="5741801" cy="206908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741801" cy="667229"/>
              <a:chOff x="0" y="0"/>
              <a:chExt cx="5535704" cy="64327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535656" cy="643255"/>
              </a:xfrm>
              <a:custGeom>
                <a:avLst/>
                <a:gdLst/>
                <a:ahLst/>
                <a:cxnLst/>
                <a:rect r="r" b="b" t="t" l="l"/>
                <a:pathLst>
                  <a:path h="643255" w="5535656">
                    <a:moveTo>
                      <a:pt x="0" y="0"/>
                    </a:moveTo>
                    <a:lnTo>
                      <a:pt x="5535656" y="0"/>
                    </a:lnTo>
                    <a:lnTo>
                      <a:pt x="5535656" y="643255"/>
                    </a:lnTo>
                    <a:lnTo>
                      <a:pt x="0" y="643255"/>
                    </a:lnTo>
                    <a:close/>
                  </a:path>
                </a:pathLst>
              </a:custGeom>
              <a:solidFill>
                <a:srgbClr val="4BACC6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667229"/>
              <a:ext cx="5741801" cy="1401854"/>
              <a:chOff x="0" y="0"/>
              <a:chExt cx="5535704" cy="135153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535656" cy="1351534"/>
              </a:xfrm>
              <a:custGeom>
                <a:avLst/>
                <a:gdLst/>
                <a:ahLst/>
                <a:cxnLst/>
                <a:rect r="r" b="b" t="t" l="l"/>
                <a:pathLst>
                  <a:path h="1351534" w="5535656">
                    <a:moveTo>
                      <a:pt x="0" y="0"/>
                    </a:moveTo>
                    <a:lnTo>
                      <a:pt x="0" y="644271"/>
                    </a:lnTo>
                    <a:lnTo>
                      <a:pt x="2259195" y="644271"/>
                    </a:lnTo>
                    <a:lnTo>
                      <a:pt x="2833777" y="1351534"/>
                    </a:lnTo>
                    <a:lnTo>
                      <a:pt x="3411328" y="644271"/>
                    </a:lnTo>
                    <a:lnTo>
                      <a:pt x="5535656" y="644271"/>
                    </a:lnTo>
                    <a:lnTo>
                      <a:pt x="5535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D9E4"/>
              </a:solidFill>
            </p:spPr>
          </p:sp>
        </p:grpSp>
      </p:grpSp>
      <p:grpSp>
        <p:nvGrpSpPr>
          <p:cNvPr name="Group 21" id="21"/>
          <p:cNvGrpSpPr/>
          <p:nvPr/>
        </p:nvGrpSpPr>
        <p:grpSpPr>
          <a:xfrm rot="0">
            <a:off x="1119978" y="3513722"/>
            <a:ext cx="4541810" cy="1551812"/>
            <a:chOff x="0" y="0"/>
            <a:chExt cx="6055746" cy="206908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055746" cy="667229"/>
              <a:chOff x="0" y="0"/>
              <a:chExt cx="5838381" cy="64327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838312" cy="643255"/>
              </a:xfrm>
              <a:custGeom>
                <a:avLst/>
                <a:gdLst/>
                <a:ahLst/>
                <a:cxnLst/>
                <a:rect r="r" b="b" t="t" l="l"/>
                <a:pathLst>
                  <a:path h="643255" w="5838312">
                    <a:moveTo>
                      <a:pt x="5838312" y="0"/>
                    </a:moveTo>
                    <a:cubicBezTo>
                      <a:pt x="724056" y="0"/>
                      <a:pt x="724056" y="0"/>
                      <a:pt x="724056" y="0"/>
                    </a:cubicBezTo>
                    <a:cubicBezTo>
                      <a:pt x="316785" y="0"/>
                      <a:pt x="0" y="257302"/>
                      <a:pt x="0" y="546735"/>
                    </a:cubicBezTo>
                    <a:cubicBezTo>
                      <a:pt x="0" y="643255"/>
                      <a:pt x="0" y="643255"/>
                      <a:pt x="0" y="643255"/>
                    </a:cubicBezTo>
                    <a:cubicBezTo>
                      <a:pt x="5838312" y="643255"/>
                      <a:pt x="5838312" y="643255"/>
                      <a:pt x="5838312" y="643255"/>
                    </a:cubicBezTo>
                    <a:cubicBezTo>
                      <a:pt x="5838312" y="0"/>
                      <a:pt x="5838312" y="0"/>
                      <a:pt x="5838312" y="0"/>
                    </a:cubicBezTo>
                  </a:path>
                </a:pathLst>
              </a:custGeom>
              <a:solidFill>
                <a:srgbClr val="4BACC6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667229"/>
              <a:ext cx="6055746" cy="1401854"/>
              <a:chOff x="0" y="0"/>
              <a:chExt cx="5838381" cy="135153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-127"/>
                <a:ext cx="5838459" cy="1351534"/>
              </a:xfrm>
              <a:custGeom>
                <a:avLst/>
                <a:gdLst/>
                <a:ahLst/>
                <a:cxnLst/>
                <a:rect r="r" b="b" t="t" l="l"/>
                <a:pathLst>
                  <a:path h="1351534" w="5838459">
                    <a:moveTo>
                      <a:pt x="0" y="127"/>
                    </a:moveTo>
                    <a:cubicBezTo>
                      <a:pt x="0" y="96647"/>
                      <a:pt x="0" y="96647"/>
                      <a:pt x="0" y="96647"/>
                    </a:cubicBezTo>
                    <a:cubicBezTo>
                      <a:pt x="0" y="386207"/>
                      <a:pt x="316785" y="643636"/>
                      <a:pt x="724056" y="643636"/>
                    </a:cubicBezTo>
                    <a:cubicBezTo>
                      <a:pt x="2398646" y="643636"/>
                      <a:pt x="2398646" y="643636"/>
                      <a:pt x="2398646" y="643636"/>
                    </a:cubicBezTo>
                    <a:cubicBezTo>
                      <a:pt x="2987064" y="1351534"/>
                      <a:pt x="2987064" y="1351534"/>
                      <a:pt x="2987064" y="1351534"/>
                    </a:cubicBezTo>
                    <a:cubicBezTo>
                      <a:pt x="3575482" y="643636"/>
                      <a:pt x="3575482" y="643636"/>
                      <a:pt x="3575482" y="643636"/>
                    </a:cubicBezTo>
                    <a:cubicBezTo>
                      <a:pt x="5838459" y="643636"/>
                      <a:pt x="5838459" y="643636"/>
                      <a:pt x="5838459" y="643636"/>
                    </a:cubicBezTo>
                    <a:cubicBezTo>
                      <a:pt x="5838459" y="0"/>
                      <a:pt x="5838459" y="0"/>
                      <a:pt x="583845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BD9E4"/>
              </a:solidFill>
            </p:spPr>
          </p:sp>
        </p:grpSp>
      </p:grpSp>
      <p:sp>
        <p:nvSpPr>
          <p:cNvPr name="Freeform 26" id="26"/>
          <p:cNvSpPr/>
          <p:nvPr/>
        </p:nvSpPr>
        <p:spPr>
          <a:xfrm flipH="false" flipV="false" rot="0">
            <a:off x="2012179" y="7162717"/>
            <a:ext cx="2649979" cy="2676747"/>
          </a:xfrm>
          <a:custGeom>
            <a:avLst/>
            <a:gdLst/>
            <a:ahLst/>
            <a:cxnLst/>
            <a:rect r="r" b="b" t="t" l="l"/>
            <a:pathLst>
              <a:path h="2676747" w="2649979">
                <a:moveTo>
                  <a:pt x="0" y="0"/>
                </a:moveTo>
                <a:lnTo>
                  <a:pt x="2649980" y="0"/>
                </a:lnTo>
                <a:lnTo>
                  <a:pt x="2649980" y="2676747"/>
                </a:lnTo>
                <a:lnTo>
                  <a:pt x="0" y="26767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657510" y="7299674"/>
            <a:ext cx="2414978" cy="2771854"/>
          </a:xfrm>
          <a:custGeom>
            <a:avLst/>
            <a:gdLst/>
            <a:ahLst/>
            <a:cxnLst/>
            <a:rect r="r" b="b" t="t" l="l"/>
            <a:pathLst>
              <a:path h="2771854" w="2414978">
                <a:moveTo>
                  <a:pt x="0" y="0"/>
                </a:moveTo>
                <a:lnTo>
                  <a:pt x="2414978" y="0"/>
                </a:lnTo>
                <a:lnTo>
                  <a:pt x="2414978" y="2771854"/>
                </a:lnTo>
                <a:lnTo>
                  <a:pt x="0" y="27718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0205088" y="7162717"/>
            <a:ext cx="3239150" cy="2716837"/>
          </a:xfrm>
          <a:custGeom>
            <a:avLst/>
            <a:gdLst/>
            <a:ahLst/>
            <a:cxnLst/>
            <a:rect r="r" b="b" t="t" l="l"/>
            <a:pathLst>
              <a:path h="2716837" w="3239150">
                <a:moveTo>
                  <a:pt x="0" y="0"/>
                </a:moveTo>
                <a:lnTo>
                  <a:pt x="3239150" y="0"/>
                </a:lnTo>
                <a:lnTo>
                  <a:pt x="3239150" y="2716837"/>
                </a:lnTo>
                <a:lnTo>
                  <a:pt x="0" y="27168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085759" y="7315117"/>
            <a:ext cx="3173541" cy="2388089"/>
          </a:xfrm>
          <a:custGeom>
            <a:avLst/>
            <a:gdLst/>
            <a:ahLst/>
            <a:cxnLst/>
            <a:rect r="r" b="b" t="t" l="l"/>
            <a:pathLst>
              <a:path h="2388089" w="3173541">
                <a:moveTo>
                  <a:pt x="0" y="0"/>
                </a:moveTo>
                <a:lnTo>
                  <a:pt x="3173541" y="0"/>
                </a:lnTo>
                <a:lnTo>
                  <a:pt x="3173541" y="2388089"/>
                </a:lnTo>
                <a:lnTo>
                  <a:pt x="0" y="2388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982433" y="337070"/>
            <a:ext cx="6104197" cy="1316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</a:pPr>
            <a:r>
              <a:rPr lang="en-US" sz="3835" spc="375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Riesgos principales identificados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134746" y="3570723"/>
            <a:ext cx="1202423" cy="78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9"/>
              </a:lnSpc>
              <a:spcBef>
                <a:spcPct val="0"/>
              </a:spcBef>
            </a:pPr>
            <a:r>
              <a:rPr lang="en-US" sz="4724" spc="46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37988" y="3570723"/>
            <a:ext cx="1654023" cy="78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9"/>
              </a:lnSpc>
              <a:spcBef>
                <a:spcPct val="0"/>
              </a:spcBef>
            </a:pPr>
            <a:r>
              <a:rPr lang="en-US" sz="4724" spc="46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940012" y="3570723"/>
            <a:ext cx="1146617" cy="78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9"/>
              </a:lnSpc>
              <a:spcBef>
                <a:spcPct val="0"/>
              </a:spcBef>
            </a:pPr>
            <a:r>
              <a:rPr lang="en-US" sz="4724" spc="46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05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06606" y="3570723"/>
            <a:ext cx="2428344" cy="78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19"/>
              </a:lnSpc>
              <a:spcBef>
                <a:spcPct val="0"/>
              </a:spcBef>
            </a:pPr>
            <a:r>
              <a:rPr lang="en-US" sz="4724" spc="46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922941" y="5815912"/>
            <a:ext cx="3784045" cy="99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Condiciones inadecuadas de los SITE's</a:t>
            </a:r>
          </a:p>
          <a:p>
            <a:pPr algn="ctr" marL="0" indent="0" lvl="0">
              <a:lnSpc>
                <a:spcPts val="2646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0205088" y="5815912"/>
            <a:ext cx="3208988" cy="99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6"/>
              </a:lnSpc>
              <a:spcBef>
                <a:spcPct val="0"/>
              </a:spcBef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Acceso no autorizado a los DVRs o salas de SITE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21879" y="5815912"/>
            <a:ext cx="3532237" cy="99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46"/>
              </a:lnSpc>
              <a:spcBef>
                <a:spcPct val="0"/>
              </a:spcBef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Cableado deteriorado o mal organizado en racks/SITE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11802" y="5815912"/>
            <a:ext cx="4050735" cy="99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6"/>
              </a:lnSpc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Fallo en DVRs por falta de mantenimiento preventivo</a:t>
            </a:r>
          </a:p>
          <a:p>
            <a:pPr algn="ctr" marL="0" indent="0" lvl="0">
              <a:lnSpc>
                <a:spcPts val="2646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444237" y="1962687"/>
            <a:ext cx="13180589" cy="119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335" spc="228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Se identificaron riesgos críticos relacionados con el mantenimiento, las condiciones de los SITEs, la pérdida de grabaciones y las contraseñas.</a:t>
            </a:r>
          </a:p>
          <a:p>
            <a:pPr algn="ctr">
              <a:lnSpc>
                <a:spcPts val="3223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4040" y="5200187"/>
            <a:ext cx="810058" cy="1600333"/>
            <a:chOff x="0" y="0"/>
            <a:chExt cx="1120320" cy="2213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" y="14732"/>
              <a:ext cx="1114933" cy="2194560"/>
            </a:xfrm>
            <a:custGeom>
              <a:avLst/>
              <a:gdLst/>
              <a:ahLst/>
              <a:cxnLst/>
              <a:rect r="r" b="b" t="t" l="l"/>
              <a:pathLst>
                <a:path h="2194560" w="1114933">
                  <a:moveTo>
                    <a:pt x="1114933" y="2159"/>
                  </a:moveTo>
                  <a:cubicBezTo>
                    <a:pt x="1053719" y="876173"/>
                    <a:pt x="640588" y="1650365"/>
                    <a:pt x="20955" y="2194560"/>
                  </a:cubicBezTo>
                  <a:lnTo>
                    <a:pt x="0" y="2170811"/>
                  </a:lnTo>
                  <a:cubicBezTo>
                    <a:pt x="613791" y="1631823"/>
                    <a:pt x="1022731" y="865251"/>
                    <a:pt x="1083310" y="0"/>
                  </a:cubicBezTo>
                  <a:close/>
                </a:path>
              </a:pathLst>
            </a:custGeom>
            <a:solidFill>
              <a:srgbClr val="41404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64040" y="3276561"/>
            <a:ext cx="810058" cy="1593044"/>
            <a:chOff x="0" y="0"/>
            <a:chExt cx="1120320" cy="2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334" y="3937"/>
              <a:ext cx="1114933" cy="2184654"/>
            </a:xfrm>
            <a:custGeom>
              <a:avLst/>
              <a:gdLst/>
              <a:ahLst/>
              <a:cxnLst/>
              <a:rect r="r" b="b" t="t" l="l"/>
              <a:pathLst>
                <a:path h="2184654" w="1114933">
                  <a:moveTo>
                    <a:pt x="20955" y="0"/>
                  </a:moveTo>
                  <a:cubicBezTo>
                    <a:pt x="640588" y="543560"/>
                    <a:pt x="1053719" y="1316863"/>
                    <a:pt x="1114933" y="2182368"/>
                  </a:cubicBezTo>
                  <a:lnTo>
                    <a:pt x="1083310" y="2184654"/>
                  </a:lnTo>
                  <a:cubicBezTo>
                    <a:pt x="1022731" y="1327912"/>
                    <a:pt x="613791" y="562229"/>
                    <a:pt x="0" y="23749"/>
                  </a:cubicBezTo>
                  <a:close/>
                </a:path>
              </a:pathLst>
            </a:custGeom>
            <a:solidFill>
              <a:srgbClr val="41404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44911" y="2984502"/>
            <a:ext cx="385767" cy="386287"/>
            <a:chOff x="0" y="0"/>
            <a:chExt cx="533520" cy="534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3527" cy="534289"/>
            </a:xfrm>
            <a:custGeom>
              <a:avLst/>
              <a:gdLst/>
              <a:ahLst/>
              <a:cxnLst/>
              <a:rect r="r" b="b" t="t" l="l"/>
              <a:pathLst>
                <a:path h="534289" w="533527">
                  <a:moveTo>
                    <a:pt x="0" y="267081"/>
                  </a:moveTo>
                  <a:cubicBezTo>
                    <a:pt x="0" y="119634"/>
                    <a:pt x="119380" y="0"/>
                    <a:pt x="266700" y="0"/>
                  </a:cubicBezTo>
                  <a:lnTo>
                    <a:pt x="266700" y="22352"/>
                  </a:lnTo>
                  <a:lnTo>
                    <a:pt x="266700" y="0"/>
                  </a:lnTo>
                  <a:cubicBezTo>
                    <a:pt x="414020" y="0"/>
                    <a:pt x="533400" y="119634"/>
                    <a:pt x="533400" y="267081"/>
                  </a:cubicBezTo>
                  <a:lnTo>
                    <a:pt x="511175" y="267081"/>
                  </a:lnTo>
                  <a:lnTo>
                    <a:pt x="533527" y="267081"/>
                  </a:lnTo>
                  <a:cubicBezTo>
                    <a:pt x="533527" y="414528"/>
                    <a:pt x="414147" y="534162"/>
                    <a:pt x="266827" y="534162"/>
                  </a:cubicBezTo>
                  <a:lnTo>
                    <a:pt x="266827" y="511937"/>
                  </a:lnTo>
                  <a:lnTo>
                    <a:pt x="266827" y="534289"/>
                  </a:lnTo>
                  <a:cubicBezTo>
                    <a:pt x="119507" y="534289"/>
                    <a:pt x="127" y="414655"/>
                    <a:pt x="127" y="267208"/>
                  </a:cubicBezTo>
                  <a:lnTo>
                    <a:pt x="22352" y="267208"/>
                  </a:lnTo>
                  <a:lnTo>
                    <a:pt x="44577" y="267208"/>
                  </a:lnTo>
                  <a:lnTo>
                    <a:pt x="22352" y="267208"/>
                  </a:lnTo>
                  <a:lnTo>
                    <a:pt x="0" y="267208"/>
                  </a:lnTo>
                  <a:moveTo>
                    <a:pt x="44577" y="267208"/>
                  </a:moveTo>
                  <a:cubicBezTo>
                    <a:pt x="44577" y="279527"/>
                    <a:pt x="34544" y="289560"/>
                    <a:pt x="22225" y="289560"/>
                  </a:cubicBezTo>
                  <a:cubicBezTo>
                    <a:pt x="9906" y="289560"/>
                    <a:pt x="0" y="279400"/>
                    <a:pt x="0" y="267081"/>
                  </a:cubicBezTo>
                  <a:cubicBezTo>
                    <a:pt x="0" y="254762"/>
                    <a:pt x="10033" y="244729"/>
                    <a:pt x="22352" y="244729"/>
                  </a:cubicBezTo>
                  <a:cubicBezTo>
                    <a:pt x="34671" y="244729"/>
                    <a:pt x="44704" y="254762"/>
                    <a:pt x="44704" y="267081"/>
                  </a:cubicBezTo>
                  <a:cubicBezTo>
                    <a:pt x="44704" y="390017"/>
                    <a:pt x="144145" y="489585"/>
                    <a:pt x="266827" y="489585"/>
                  </a:cubicBezTo>
                  <a:cubicBezTo>
                    <a:pt x="389509" y="489585"/>
                    <a:pt x="488950" y="390017"/>
                    <a:pt x="488950" y="267081"/>
                  </a:cubicBezTo>
                  <a:cubicBezTo>
                    <a:pt x="488950" y="144145"/>
                    <a:pt x="389382" y="44577"/>
                    <a:pt x="266700" y="44577"/>
                  </a:cubicBezTo>
                  <a:lnTo>
                    <a:pt x="266700" y="22352"/>
                  </a:lnTo>
                  <a:lnTo>
                    <a:pt x="266700" y="44577"/>
                  </a:lnTo>
                  <a:cubicBezTo>
                    <a:pt x="144018" y="44577"/>
                    <a:pt x="44577" y="144145"/>
                    <a:pt x="44577" y="267081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43305" y="3083417"/>
            <a:ext cx="188458" cy="188458"/>
            <a:chOff x="0" y="0"/>
            <a:chExt cx="260640" cy="260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604" cy="260604"/>
            </a:xfrm>
            <a:custGeom>
              <a:avLst/>
              <a:gdLst/>
              <a:ahLst/>
              <a:cxnLst/>
              <a:rect r="r" b="b" t="t" l="l"/>
              <a:pathLst>
                <a:path h="260604" w="260604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cubicBezTo>
                    <a:pt x="202311" y="0"/>
                    <a:pt x="260604" y="58293"/>
                    <a:pt x="260604" y="130302"/>
                  </a:cubicBezTo>
                  <a:cubicBezTo>
                    <a:pt x="260604" y="202311"/>
                    <a:pt x="202311" y="260604"/>
                    <a:pt x="130302" y="260604"/>
                  </a:cubicBezTo>
                  <a:cubicBezTo>
                    <a:pt x="58293" y="260604"/>
                    <a:pt x="0" y="202311"/>
                    <a:pt x="0" y="130302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81475" y="4842013"/>
            <a:ext cx="385767" cy="385767"/>
            <a:chOff x="0" y="0"/>
            <a:chExt cx="533520" cy="533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527" cy="533527"/>
            </a:xfrm>
            <a:custGeom>
              <a:avLst/>
              <a:gdLst/>
              <a:ahLst/>
              <a:cxnLst/>
              <a:rect r="r" b="b" t="t" l="l"/>
              <a:pathLst>
                <a:path h="533527" w="533527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lnTo>
                    <a:pt x="266700" y="22352"/>
                  </a:lnTo>
                  <a:lnTo>
                    <a:pt x="266700" y="0"/>
                  </a:lnTo>
                  <a:cubicBezTo>
                    <a:pt x="414020" y="0"/>
                    <a:pt x="533400" y="119380"/>
                    <a:pt x="533400" y="266700"/>
                  </a:cubicBezTo>
                  <a:lnTo>
                    <a:pt x="511175" y="266700"/>
                  </a:lnTo>
                  <a:lnTo>
                    <a:pt x="533527" y="266700"/>
                  </a:lnTo>
                  <a:cubicBezTo>
                    <a:pt x="533527" y="414020"/>
                    <a:pt x="414147" y="533400"/>
                    <a:pt x="266827" y="533400"/>
                  </a:cubicBezTo>
                  <a:lnTo>
                    <a:pt x="266827" y="511175"/>
                  </a:lnTo>
                  <a:lnTo>
                    <a:pt x="266827" y="533527"/>
                  </a:lnTo>
                  <a:cubicBezTo>
                    <a:pt x="119507" y="533527"/>
                    <a:pt x="127" y="414147"/>
                    <a:pt x="127" y="266827"/>
                  </a:cubicBezTo>
                  <a:lnTo>
                    <a:pt x="22352" y="266827"/>
                  </a:lnTo>
                  <a:lnTo>
                    <a:pt x="44577" y="266827"/>
                  </a:lnTo>
                  <a:lnTo>
                    <a:pt x="22352" y="266827"/>
                  </a:lnTo>
                  <a:lnTo>
                    <a:pt x="0" y="266827"/>
                  </a:lnTo>
                  <a:moveTo>
                    <a:pt x="44577" y="266827"/>
                  </a:moveTo>
                  <a:cubicBezTo>
                    <a:pt x="44577" y="279146"/>
                    <a:pt x="34544" y="289179"/>
                    <a:pt x="22225" y="289179"/>
                  </a:cubicBezTo>
                  <a:cubicBezTo>
                    <a:pt x="9906" y="289179"/>
                    <a:pt x="0" y="279146"/>
                    <a:pt x="0" y="266700"/>
                  </a:cubicBezTo>
                  <a:cubicBezTo>
                    <a:pt x="0" y="254254"/>
                    <a:pt x="10033" y="244348"/>
                    <a:pt x="22352" y="244348"/>
                  </a:cubicBezTo>
                  <a:cubicBezTo>
                    <a:pt x="34671" y="244348"/>
                    <a:pt x="44704" y="254381"/>
                    <a:pt x="44704" y="266700"/>
                  </a:cubicBezTo>
                  <a:cubicBezTo>
                    <a:pt x="44704" y="389382"/>
                    <a:pt x="144145" y="488823"/>
                    <a:pt x="266827" y="488823"/>
                  </a:cubicBezTo>
                  <a:cubicBezTo>
                    <a:pt x="389509" y="488823"/>
                    <a:pt x="488823" y="389382"/>
                    <a:pt x="488823" y="266700"/>
                  </a:cubicBezTo>
                  <a:cubicBezTo>
                    <a:pt x="488823" y="144018"/>
                    <a:pt x="389382" y="44577"/>
                    <a:pt x="266700" y="44577"/>
                  </a:cubicBezTo>
                  <a:lnTo>
                    <a:pt x="266700" y="22352"/>
                  </a:lnTo>
                  <a:lnTo>
                    <a:pt x="266700" y="44577"/>
                  </a:lnTo>
                  <a:cubicBezTo>
                    <a:pt x="144145" y="44577"/>
                    <a:pt x="44577" y="144145"/>
                    <a:pt x="44577" y="266700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79869" y="4940407"/>
            <a:ext cx="188458" cy="188458"/>
            <a:chOff x="0" y="0"/>
            <a:chExt cx="260640" cy="260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0604" cy="260604"/>
            </a:xfrm>
            <a:custGeom>
              <a:avLst/>
              <a:gdLst/>
              <a:ahLst/>
              <a:cxnLst/>
              <a:rect r="r" b="b" t="t" l="l"/>
              <a:pathLst>
                <a:path h="260604" w="260604">
                  <a:moveTo>
                    <a:pt x="0" y="130302"/>
                  </a:moveTo>
                  <a:cubicBezTo>
                    <a:pt x="0" y="58293"/>
                    <a:pt x="58293" y="0"/>
                    <a:pt x="130302" y="0"/>
                  </a:cubicBezTo>
                  <a:cubicBezTo>
                    <a:pt x="202311" y="0"/>
                    <a:pt x="260604" y="58293"/>
                    <a:pt x="260604" y="130302"/>
                  </a:cubicBezTo>
                  <a:cubicBezTo>
                    <a:pt x="260604" y="202311"/>
                    <a:pt x="202311" y="260604"/>
                    <a:pt x="130302" y="260604"/>
                  </a:cubicBezTo>
                  <a:cubicBezTo>
                    <a:pt x="58293" y="260604"/>
                    <a:pt x="0" y="202311"/>
                    <a:pt x="0" y="130302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44911" y="6706291"/>
            <a:ext cx="385767" cy="383164"/>
            <a:chOff x="0" y="0"/>
            <a:chExt cx="533520" cy="5299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527" cy="529971"/>
            </a:xfrm>
            <a:custGeom>
              <a:avLst/>
              <a:gdLst/>
              <a:ahLst/>
              <a:cxnLst/>
              <a:rect r="r" b="b" t="t" l="l"/>
              <a:pathLst>
                <a:path h="529971" w="533527">
                  <a:moveTo>
                    <a:pt x="0" y="264922"/>
                  </a:moveTo>
                  <a:cubicBezTo>
                    <a:pt x="0" y="118491"/>
                    <a:pt x="119634" y="0"/>
                    <a:pt x="266700" y="0"/>
                  </a:cubicBezTo>
                  <a:lnTo>
                    <a:pt x="266700" y="22352"/>
                  </a:lnTo>
                  <a:lnTo>
                    <a:pt x="266700" y="0"/>
                  </a:lnTo>
                  <a:cubicBezTo>
                    <a:pt x="413893" y="0"/>
                    <a:pt x="533400" y="118491"/>
                    <a:pt x="533400" y="264922"/>
                  </a:cubicBezTo>
                  <a:lnTo>
                    <a:pt x="511175" y="264922"/>
                  </a:lnTo>
                  <a:lnTo>
                    <a:pt x="533527" y="264922"/>
                  </a:lnTo>
                  <a:cubicBezTo>
                    <a:pt x="533527" y="411353"/>
                    <a:pt x="413893" y="529844"/>
                    <a:pt x="266827" y="529844"/>
                  </a:cubicBezTo>
                  <a:lnTo>
                    <a:pt x="266827" y="507619"/>
                  </a:lnTo>
                  <a:lnTo>
                    <a:pt x="266827" y="529971"/>
                  </a:lnTo>
                  <a:cubicBezTo>
                    <a:pt x="119634" y="529971"/>
                    <a:pt x="0" y="411480"/>
                    <a:pt x="0" y="264922"/>
                  </a:cubicBezTo>
                  <a:lnTo>
                    <a:pt x="22352" y="264922"/>
                  </a:lnTo>
                  <a:lnTo>
                    <a:pt x="44577" y="264922"/>
                  </a:lnTo>
                  <a:lnTo>
                    <a:pt x="22352" y="264922"/>
                  </a:lnTo>
                  <a:lnTo>
                    <a:pt x="0" y="264922"/>
                  </a:lnTo>
                  <a:moveTo>
                    <a:pt x="44577" y="264922"/>
                  </a:moveTo>
                  <a:cubicBezTo>
                    <a:pt x="44577" y="277241"/>
                    <a:pt x="34544" y="287274"/>
                    <a:pt x="22225" y="287274"/>
                  </a:cubicBezTo>
                  <a:cubicBezTo>
                    <a:pt x="9906" y="287274"/>
                    <a:pt x="0" y="277241"/>
                    <a:pt x="0" y="264922"/>
                  </a:cubicBezTo>
                  <a:cubicBezTo>
                    <a:pt x="0" y="252603"/>
                    <a:pt x="10033" y="242570"/>
                    <a:pt x="22352" y="242570"/>
                  </a:cubicBezTo>
                  <a:cubicBezTo>
                    <a:pt x="34671" y="242570"/>
                    <a:pt x="44704" y="252603"/>
                    <a:pt x="44704" y="264922"/>
                  </a:cubicBezTo>
                  <a:cubicBezTo>
                    <a:pt x="44704" y="386461"/>
                    <a:pt x="144018" y="485267"/>
                    <a:pt x="266827" y="485267"/>
                  </a:cubicBezTo>
                  <a:cubicBezTo>
                    <a:pt x="389636" y="485267"/>
                    <a:pt x="488950" y="386461"/>
                    <a:pt x="488950" y="264922"/>
                  </a:cubicBezTo>
                  <a:cubicBezTo>
                    <a:pt x="488950" y="143383"/>
                    <a:pt x="389636" y="44577"/>
                    <a:pt x="266700" y="44577"/>
                  </a:cubicBezTo>
                  <a:lnTo>
                    <a:pt x="266700" y="22352"/>
                  </a:lnTo>
                  <a:lnTo>
                    <a:pt x="266700" y="44577"/>
                  </a:lnTo>
                  <a:cubicBezTo>
                    <a:pt x="143891" y="44577"/>
                    <a:pt x="44577" y="143383"/>
                    <a:pt x="44577" y="264922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843305" y="6804685"/>
            <a:ext cx="188458" cy="185855"/>
            <a:chOff x="0" y="0"/>
            <a:chExt cx="260640" cy="257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60604" cy="257048"/>
            </a:xfrm>
            <a:custGeom>
              <a:avLst/>
              <a:gdLst/>
              <a:ahLst/>
              <a:cxnLst/>
              <a:rect r="r" b="b" t="t" l="l"/>
              <a:pathLst>
                <a:path h="257048" w="260604">
                  <a:moveTo>
                    <a:pt x="0" y="128524"/>
                  </a:moveTo>
                  <a:cubicBezTo>
                    <a:pt x="0" y="57531"/>
                    <a:pt x="58293" y="0"/>
                    <a:pt x="130302" y="0"/>
                  </a:cubicBezTo>
                  <a:cubicBezTo>
                    <a:pt x="202311" y="0"/>
                    <a:pt x="260604" y="57531"/>
                    <a:pt x="260604" y="128524"/>
                  </a:cubicBezTo>
                  <a:cubicBezTo>
                    <a:pt x="260604" y="199517"/>
                    <a:pt x="202311" y="257048"/>
                    <a:pt x="130302" y="257048"/>
                  </a:cubicBezTo>
                  <a:cubicBezTo>
                    <a:pt x="58293" y="257048"/>
                    <a:pt x="0" y="199517"/>
                    <a:pt x="0" y="128524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36360" y="7045724"/>
            <a:ext cx="3755677" cy="869146"/>
            <a:chOff x="0" y="0"/>
            <a:chExt cx="10388296" cy="2404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88329" cy="2404110"/>
            </a:xfrm>
            <a:custGeom>
              <a:avLst/>
              <a:gdLst/>
              <a:ahLst/>
              <a:cxnLst/>
              <a:rect r="r" b="b" t="t" l="l"/>
              <a:pathLst>
                <a:path h="2404110" w="10388329">
                  <a:moveTo>
                    <a:pt x="8354426" y="0"/>
                  </a:moveTo>
                  <a:cubicBezTo>
                    <a:pt x="2046805" y="0"/>
                    <a:pt x="2046805" y="0"/>
                    <a:pt x="2046805" y="0"/>
                  </a:cubicBezTo>
                  <a:cubicBezTo>
                    <a:pt x="1609155" y="0"/>
                    <a:pt x="1184382" y="83947"/>
                    <a:pt x="849544" y="228981"/>
                  </a:cubicBezTo>
                  <a:cubicBezTo>
                    <a:pt x="0" y="137414"/>
                    <a:pt x="0" y="137414"/>
                    <a:pt x="0" y="137414"/>
                  </a:cubicBezTo>
                  <a:cubicBezTo>
                    <a:pt x="283110" y="618236"/>
                    <a:pt x="283110" y="618236"/>
                    <a:pt x="283110" y="618236"/>
                  </a:cubicBezTo>
                  <a:cubicBezTo>
                    <a:pt x="115905" y="793750"/>
                    <a:pt x="25757" y="992124"/>
                    <a:pt x="25757" y="1198245"/>
                  </a:cubicBezTo>
                  <a:cubicBezTo>
                    <a:pt x="25757" y="1862201"/>
                    <a:pt x="939693" y="2404110"/>
                    <a:pt x="2046805" y="2404110"/>
                  </a:cubicBezTo>
                  <a:cubicBezTo>
                    <a:pt x="8354426" y="2404110"/>
                    <a:pt x="8354426" y="2404110"/>
                    <a:pt x="8354426" y="2404110"/>
                  </a:cubicBezTo>
                  <a:cubicBezTo>
                    <a:pt x="9474416" y="2404110"/>
                    <a:pt x="10388329" y="1862201"/>
                    <a:pt x="10388329" y="1198245"/>
                  </a:cubicBezTo>
                  <a:cubicBezTo>
                    <a:pt x="10388329" y="541909"/>
                    <a:pt x="9474416" y="0"/>
                    <a:pt x="8354426" y="0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234416" y="4625833"/>
            <a:ext cx="3697198" cy="825416"/>
            <a:chOff x="0" y="0"/>
            <a:chExt cx="11510902" cy="25698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510641" cy="2569933"/>
            </a:xfrm>
            <a:custGeom>
              <a:avLst/>
              <a:gdLst/>
              <a:ahLst/>
              <a:cxnLst/>
              <a:rect r="r" b="b" t="t" l="l"/>
              <a:pathLst>
                <a:path h="2569933" w="11510641">
                  <a:moveTo>
                    <a:pt x="9391248" y="0"/>
                  </a:moveTo>
                  <a:cubicBezTo>
                    <a:pt x="2830702" y="0"/>
                    <a:pt x="2830702" y="0"/>
                    <a:pt x="2830702" y="0"/>
                  </a:cubicBezTo>
                  <a:cubicBezTo>
                    <a:pt x="1824672" y="0"/>
                    <a:pt x="966003" y="432357"/>
                    <a:pt x="764752" y="1011687"/>
                  </a:cubicBezTo>
                  <a:cubicBezTo>
                    <a:pt x="0" y="1289048"/>
                    <a:pt x="0" y="1289048"/>
                    <a:pt x="0" y="1289048"/>
                  </a:cubicBezTo>
                  <a:cubicBezTo>
                    <a:pt x="764752" y="1550093"/>
                    <a:pt x="764752" y="1550093"/>
                    <a:pt x="764752" y="1550093"/>
                  </a:cubicBezTo>
                  <a:cubicBezTo>
                    <a:pt x="966003" y="2137446"/>
                    <a:pt x="1811256" y="2569933"/>
                    <a:pt x="2830702" y="2569933"/>
                  </a:cubicBezTo>
                  <a:cubicBezTo>
                    <a:pt x="9391024" y="2569933"/>
                    <a:pt x="9391024" y="2569933"/>
                    <a:pt x="9391024" y="2569933"/>
                  </a:cubicBezTo>
                  <a:cubicBezTo>
                    <a:pt x="10558279" y="2569933"/>
                    <a:pt x="11510641" y="1990743"/>
                    <a:pt x="11510641" y="1280890"/>
                  </a:cubicBezTo>
                  <a:cubicBezTo>
                    <a:pt x="11510641" y="571037"/>
                    <a:pt x="10558279" y="0"/>
                    <a:pt x="9391248" y="0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236360" y="2214271"/>
            <a:ext cx="3755677" cy="869146"/>
            <a:chOff x="0" y="0"/>
            <a:chExt cx="5194148" cy="1202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94181" cy="1202072"/>
            </a:xfrm>
            <a:custGeom>
              <a:avLst/>
              <a:gdLst/>
              <a:ahLst/>
              <a:cxnLst/>
              <a:rect r="r" b="b" t="t" l="l"/>
              <a:pathLst>
                <a:path h="1202072" w="5194181">
                  <a:moveTo>
                    <a:pt x="4177213" y="0"/>
                  </a:moveTo>
                  <a:cubicBezTo>
                    <a:pt x="1023403" y="0"/>
                    <a:pt x="1023403" y="0"/>
                    <a:pt x="1023403" y="0"/>
                  </a:cubicBezTo>
                  <a:cubicBezTo>
                    <a:pt x="469847" y="0"/>
                    <a:pt x="12878" y="270933"/>
                    <a:pt x="12878" y="599120"/>
                  </a:cubicBezTo>
                  <a:cubicBezTo>
                    <a:pt x="12878" y="705992"/>
                    <a:pt x="57953" y="805166"/>
                    <a:pt x="141555" y="892954"/>
                  </a:cubicBezTo>
                  <a:cubicBezTo>
                    <a:pt x="0" y="1133353"/>
                    <a:pt x="0" y="1133353"/>
                    <a:pt x="0" y="1133353"/>
                  </a:cubicBezTo>
                  <a:cubicBezTo>
                    <a:pt x="424772" y="1083733"/>
                    <a:pt x="424772" y="1083733"/>
                    <a:pt x="424772" y="1083733"/>
                  </a:cubicBezTo>
                  <a:cubicBezTo>
                    <a:pt x="592084" y="1156254"/>
                    <a:pt x="804470" y="1202072"/>
                    <a:pt x="1023403" y="1202072"/>
                  </a:cubicBezTo>
                  <a:cubicBezTo>
                    <a:pt x="4177213" y="1202072"/>
                    <a:pt x="4177213" y="1202072"/>
                    <a:pt x="4177213" y="1202072"/>
                  </a:cubicBezTo>
                  <a:cubicBezTo>
                    <a:pt x="4737208" y="1202072"/>
                    <a:pt x="5194181" y="931123"/>
                    <a:pt x="5194181" y="599120"/>
                  </a:cubicBezTo>
                  <a:cubicBezTo>
                    <a:pt x="5194181" y="270933"/>
                    <a:pt x="4737208" y="0"/>
                    <a:pt x="4177213" y="0"/>
                  </a:cubicBezTo>
                  <a:close/>
                </a:path>
              </a:pathLst>
            </a:custGeom>
            <a:solidFill>
              <a:srgbClr val="4BACC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69667" y="3251051"/>
            <a:ext cx="3567690" cy="3574458"/>
            <a:chOff x="0" y="0"/>
            <a:chExt cx="4934160" cy="4943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34204" cy="4943475"/>
            </a:xfrm>
            <a:custGeom>
              <a:avLst/>
              <a:gdLst/>
              <a:ahLst/>
              <a:cxnLst/>
              <a:rect r="r" b="b" t="t" l="l"/>
              <a:pathLst>
                <a:path h="4943475" w="4934204">
                  <a:moveTo>
                    <a:pt x="0" y="2471801"/>
                  </a:moveTo>
                  <a:cubicBezTo>
                    <a:pt x="0" y="1106678"/>
                    <a:pt x="1104519" y="0"/>
                    <a:pt x="2467102" y="0"/>
                  </a:cubicBezTo>
                  <a:cubicBezTo>
                    <a:pt x="3829685" y="0"/>
                    <a:pt x="4934204" y="1106678"/>
                    <a:pt x="4934204" y="2471801"/>
                  </a:cubicBezTo>
                  <a:cubicBezTo>
                    <a:pt x="4934204" y="3836924"/>
                    <a:pt x="3829558" y="4943475"/>
                    <a:pt x="2467102" y="4943475"/>
                  </a:cubicBezTo>
                  <a:cubicBezTo>
                    <a:pt x="1104646" y="4943475"/>
                    <a:pt x="0" y="3836924"/>
                    <a:pt x="0" y="2471801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2343983" y="7089454"/>
            <a:ext cx="7092705" cy="709270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942890" y="-1619080"/>
            <a:ext cx="3754024" cy="37540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485676" y="8502066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-2017533" y="-2191570"/>
            <a:ext cx="4687320" cy="4687320"/>
          </a:xfrm>
          <a:custGeom>
            <a:avLst/>
            <a:gdLst/>
            <a:ahLst/>
            <a:cxnLst/>
            <a:rect r="r" b="b" t="t" l="l"/>
            <a:pathLst>
              <a:path h="4687320" w="4687320">
                <a:moveTo>
                  <a:pt x="0" y="0"/>
                </a:moveTo>
                <a:lnTo>
                  <a:pt x="4687320" y="0"/>
                </a:lnTo>
                <a:lnTo>
                  <a:pt x="4687320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441280" y="4039783"/>
            <a:ext cx="2224464" cy="1921381"/>
          </a:xfrm>
          <a:custGeom>
            <a:avLst/>
            <a:gdLst/>
            <a:ahLst/>
            <a:cxnLst/>
            <a:rect r="r" b="b" t="t" l="l"/>
            <a:pathLst>
              <a:path h="1921381" w="2224464">
                <a:moveTo>
                  <a:pt x="0" y="0"/>
                </a:moveTo>
                <a:lnTo>
                  <a:pt x="2224464" y="0"/>
                </a:lnTo>
                <a:lnTo>
                  <a:pt x="2224464" y="1921380"/>
                </a:lnTo>
                <a:lnTo>
                  <a:pt x="0" y="1921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553589" y="4828978"/>
            <a:ext cx="6489678" cy="221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20"/>
              </a:lnSpc>
              <a:spcBef>
                <a:spcPct val="0"/>
              </a:spcBef>
            </a:pPr>
            <a:r>
              <a:rPr lang="en-US" sz="2116" spc="20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La auditoría </a:t>
            </a:r>
            <a:r>
              <a:rPr lang="en-US" sz="2116" spc="207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reveló vulnerabilidades significativas en la gestión de accesos, protección de datos y continuidad operativa. Las recomendaciones son viables y ofrecen beneficios inmediatos.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00875" y="1266667"/>
            <a:ext cx="7074903" cy="199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2"/>
              </a:lnSpc>
              <a:spcBef>
                <a:spcPct val="0"/>
              </a:spcBef>
            </a:pPr>
            <a:r>
              <a:rPr lang="en-US" sz="5813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H</a:t>
            </a:r>
            <a:r>
              <a:rPr lang="en-US" sz="5813" spc="569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allazgos Clave y Evidencias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47198" y="3224250"/>
            <a:ext cx="6489678" cy="14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856" indent="-228428" lvl="1">
              <a:lnSpc>
                <a:spcPts val="2920"/>
              </a:lnSpc>
              <a:spcBef>
                <a:spcPct val="0"/>
              </a:spcBef>
              <a:buFont typeface="Arial"/>
              <a:buChar char="•"/>
            </a:pPr>
            <a:r>
              <a:rPr lang="en-US" sz="2116" spc="20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So</a:t>
            </a:r>
            <a:r>
              <a:rPr lang="en-US" sz="2116" spc="207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lo el SITE principal cuenta con sensor de humedad y humo; los otros dos carecen de esta protección.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0902673" y="5641748"/>
            <a:ext cx="6489678" cy="14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856" indent="-228428" lvl="1">
              <a:lnSpc>
                <a:spcPts val="2920"/>
              </a:lnSpc>
              <a:spcBef>
                <a:spcPct val="0"/>
              </a:spcBef>
              <a:buFont typeface="Arial"/>
              <a:buChar char="•"/>
            </a:pPr>
            <a:r>
              <a:rPr lang="en-US" sz="2116" spc="20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A</a:t>
            </a:r>
            <a:r>
              <a:rPr lang="en-US" sz="2116" spc="207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lgunos IDF tenían objetos encima de los racks, comprometiendo ventilación y orden.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0580122" y="8114895"/>
            <a:ext cx="6489678" cy="14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6856" indent="-228428" lvl="1">
              <a:lnSpc>
                <a:spcPts val="2920"/>
              </a:lnSpc>
              <a:spcBef>
                <a:spcPct val="0"/>
              </a:spcBef>
              <a:buFont typeface="Arial"/>
              <a:buChar char="•"/>
            </a:pPr>
            <a:r>
              <a:rPr lang="en-US" sz="2116" spc="20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Un IDF</a:t>
            </a:r>
            <a:r>
              <a:rPr lang="en-US" sz="2116" spc="207" u="none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 dejó de funcionar por filtración de agua; en Farmoquimia, caída de plafón por filtraciones afectó equipo.</a:t>
            </a:r>
          </a:p>
          <a:p>
            <a:pPr algn="l">
              <a:lnSpc>
                <a:spcPts val="2920"/>
              </a:lnSpc>
              <a:spcBef>
                <a:spcPct val="0"/>
              </a:spcBef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1594928" y="2355848"/>
            <a:ext cx="1038541" cy="52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  <a:spcBef>
                <a:spcPct val="0"/>
              </a:spcBef>
            </a:pPr>
            <a:r>
              <a:rPr lang="en-US" b="true" sz="3116" spc="305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SITE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786420" y="4741639"/>
            <a:ext cx="1038541" cy="52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  <a:spcBef>
                <a:spcPct val="0"/>
              </a:spcBef>
            </a:pPr>
            <a:r>
              <a:rPr lang="en-US" b="true" sz="3116" spc="305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IDF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68327" y="7187301"/>
            <a:ext cx="2572026" cy="528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  <a:spcBef>
                <a:spcPct val="0"/>
              </a:spcBef>
            </a:pPr>
            <a:r>
              <a:rPr lang="en-US" b="true" sz="3116" spc="305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Filtración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1165" y="2007445"/>
            <a:ext cx="6045548" cy="6016530"/>
          </a:xfrm>
          <a:custGeom>
            <a:avLst/>
            <a:gdLst/>
            <a:ahLst/>
            <a:cxnLst/>
            <a:rect r="r" b="b" t="t" l="l"/>
            <a:pathLst>
              <a:path h="6016530" w="6045548">
                <a:moveTo>
                  <a:pt x="0" y="0"/>
                </a:moveTo>
                <a:lnTo>
                  <a:pt x="6045549" y="0"/>
                </a:lnTo>
                <a:lnTo>
                  <a:pt x="6045549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80999" y="2007445"/>
            <a:ext cx="6919904" cy="5787148"/>
          </a:xfrm>
          <a:custGeom>
            <a:avLst/>
            <a:gdLst/>
            <a:ahLst/>
            <a:cxnLst/>
            <a:rect r="r" b="b" t="t" l="l"/>
            <a:pathLst>
              <a:path h="5787148" w="6919904">
                <a:moveTo>
                  <a:pt x="0" y="0"/>
                </a:moveTo>
                <a:lnTo>
                  <a:pt x="6919904" y="0"/>
                </a:lnTo>
                <a:lnTo>
                  <a:pt x="6919904" y="5787148"/>
                </a:lnTo>
                <a:lnTo>
                  <a:pt x="0" y="578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37634" y="199884"/>
            <a:ext cx="7585493" cy="82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9"/>
              </a:lnSpc>
              <a:spcBef>
                <a:spcPct val="0"/>
              </a:spcBef>
            </a:pPr>
            <a:r>
              <a:rPr lang="en-US" sz="4927" spc="48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Evidencias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07486" y="8259847"/>
            <a:ext cx="3754024" cy="375402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182055" y="-1014427"/>
            <a:ext cx="5463220" cy="546322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1165" y="8221747"/>
            <a:ext cx="6460652" cy="36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217" spc="217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IDF con objetos encima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0999" y="7985875"/>
            <a:ext cx="6460652" cy="36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217" spc="217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IDF que tuvo filtrado de agua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7486" y="8259847"/>
            <a:ext cx="3754024" cy="37540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182055" y="-1014427"/>
            <a:ext cx="5463220" cy="546322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E5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02450" y="2080914"/>
            <a:ext cx="5939368" cy="5126718"/>
          </a:xfrm>
          <a:custGeom>
            <a:avLst/>
            <a:gdLst/>
            <a:ahLst/>
            <a:cxnLst/>
            <a:rect r="r" b="b" t="t" l="l"/>
            <a:pathLst>
              <a:path h="5126718" w="5939368">
                <a:moveTo>
                  <a:pt x="0" y="0"/>
                </a:moveTo>
                <a:lnTo>
                  <a:pt x="5939368" y="0"/>
                </a:lnTo>
                <a:lnTo>
                  <a:pt x="5939368" y="5126719"/>
                </a:lnTo>
                <a:lnTo>
                  <a:pt x="0" y="512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13145" y="1960904"/>
            <a:ext cx="5215938" cy="5366739"/>
          </a:xfrm>
          <a:custGeom>
            <a:avLst/>
            <a:gdLst/>
            <a:ahLst/>
            <a:cxnLst/>
            <a:rect r="r" b="b" t="t" l="l"/>
            <a:pathLst>
              <a:path h="5366739" w="5215938">
                <a:moveTo>
                  <a:pt x="0" y="0"/>
                </a:moveTo>
                <a:lnTo>
                  <a:pt x="5215938" y="0"/>
                </a:lnTo>
                <a:lnTo>
                  <a:pt x="5215938" y="5366739"/>
                </a:lnTo>
                <a:lnTo>
                  <a:pt x="0" y="53667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37634" y="199884"/>
            <a:ext cx="7585493" cy="828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9"/>
              </a:lnSpc>
              <a:spcBef>
                <a:spcPct val="0"/>
              </a:spcBef>
            </a:pPr>
            <a:r>
              <a:rPr lang="en-US" sz="4927" spc="482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Evidencias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805" y="7891449"/>
            <a:ext cx="6460652" cy="36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217" spc="217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Daños del plafón 1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13145" y="7891449"/>
            <a:ext cx="6460652" cy="368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b="true" sz="2217" spc="217">
                <a:solidFill>
                  <a:srgbClr val="231F20"/>
                </a:solidFill>
                <a:latin typeface="TT Drugs Bold"/>
                <a:ea typeface="TT Drugs Bold"/>
                <a:cs typeface="TT Drugs Bold"/>
                <a:sym typeface="TT Drugs Bold"/>
              </a:rPr>
              <a:t>Daños del plafón 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43737" y="1077812"/>
            <a:ext cx="8600526" cy="199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2"/>
              </a:lnSpc>
            </a:pPr>
            <a:r>
              <a:rPr lang="en-US" sz="5813" spc="569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CONCLUSIONES FINALES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0" y="-449052"/>
            <a:ext cx="7262322" cy="2086267"/>
          </a:xfrm>
          <a:custGeom>
            <a:avLst/>
            <a:gdLst/>
            <a:ahLst/>
            <a:cxnLst/>
            <a:rect r="r" b="b" t="t" l="l"/>
            <a:pathLst>
              <a:path h="2086267" w="7262322">
                <a:moveTo>
                  <a:pt x="0" y="0"/>
                </a:moveTo>
                <a:lnTo>
                  <a:pt x="7262322" y="0"/>
                </a:lnTo>
                <a:lnTo>
                  <a:pt x="7262322" y="2086267"/>
                </a:lnTo>
                <a:lnTo>
                  <a:pt x="0" y="2086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11025678" y="8292967"/>
            <a:ext cx="7262322" cy="2086267"/>
          </a:xfrm>
          <a:custGeom>
            <a:avLst/>
            <a:gdLst/>
            <a:ahLst/>
            <a:cxnLst/>
            <a:rect r="r" b="b" t="t" l="l"/>
            <a:pathLst>
              <a:path h="2086267" w="7262322">
                <a:moveTo>
                  <a:pt x="7262322" y="2086267"/>
                </a:moveTo>
                <a:lnTo>
                  <a:pt x="0" y="2086267"/>
                </a:lnTo>
                <a:lnTo>
                  <a:pt x="0" y="0"/>
                </a:lnTo>
                <a:lnTo>
                  <a:pt x="7262322" y="0"/>
                </a:lnTo>
                <a:lnTo>
                  <a:pt x="7262322" y="20862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84588" y="4173901"/>
            <a:ext cx="2718823" cy="3170639"/>
          </a:xfrm>
          <a:custGeom>
            <a:avLst/>
            <a:gdLst/>
            <a:ahLst/>
            <a:cxnLst/>
            <a:rect r="r" b="b" t="t" l="l"/>
            <a:pathLst>
              <a:path h="3170639" w="2718823">
                <a:moveTo>
                  <a:pt x="0" y="0"/>
                </a:moveTo>
                <a:lnTo>
                  <a:pt x="2718824" y="0"/>
                </a:lnTo>
                <a:lnTo>
                  <a:pt x="2718824" y="3170639"/>
                </a:lnTo>
                <a:lnTo>
                  <a:pt x="0" y="3170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76168"/>
            <a:ext cx="6323325" cy="299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6"/>
              </a:lnSpc>
              <a:spcBef>
                <a:spcPct val="0"/>
              </a:spcBef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Esta auditoría al sistema de videovigilancia de DURAPLAY ha demostrado la importancia crítica de mantener controles robustos en seguridad física y digital. Los hallazgos revelaron vulnerabilidades significativas, particularmente en gestión de accesos, protección de datos y continuidad operativa, que de no atenderse podrían comprometer la integridad del sistema.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32037" y="4409543"/>
            <a:ext cx="6460652" cy="266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6"/>
              </a:lnSpc>
              <a:spcBef>
                <a:spcPct val="0"/>
              </a:spcBef>
            </a:pPr>
            <a:r>
              <a:rPr lang="en-US" sz="1917" spc="187">
                <a:solidFill>
                  <a:srgbClr val="231F20"/>
                </a:solidFill>
                <a:latin typeface="TT Drugs"/>
                <a:ea typeface="TT Drugs"/>
                <a:cs typeface="TT Drugs"/>
                <a:sym typeface="TT Drugs"/>
              </a:rPr>
              <a:t>Las recomendaciones planteadas, aunque requieren inversión, son técnica y financieramente viables, ofreciendo beneficios inmediatos como mayor protección contra amenazas y cumplimiento normativo. Su implementación escalonada permitirá optimizar recursos mientras se fortalecen progresivamente los controles.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DAGwoQlGNRQ</dc:identifier>
  <dcterms:modified xsi:type="dcterms:W3CDTF">2011-08-01T06:04:30Z</dcterms:modified>
  <cp:revision>1</cp:revision>
  <dc:title>Presentacion brief de la compañia moderno minimalista celeste y blanco</dc:title>
</cp:coreProperties>
</file>